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17">
          <p15:clr>
            <a:srgbClr val="A4A3A4"/>
          </p15:clr>
        </p15:guide>
        <p15:guide id="2" pos="657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h9DKu65dqXkyuoxpwYNZ778Tm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17" orient="horz"/>
        <p:guide pos="6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92144799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6921447991_0_1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92144799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6921447991_0_2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92144799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6921447991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921447991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6921447991_0_2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92144799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6921447991_0_2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921447991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6921447991_0_2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921447991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6921447991_0_3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921447991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6921447991_0_4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92144799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6921447991_0_4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921447991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6921447991_0_4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921447991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6921447991_0_4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921447991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6921447991_0_4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921447991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6921447991_0_5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921447991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6921447991_0_5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921447991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6921447991_0_5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921447991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6921447991_0_4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921447991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6921447991_0_4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921447991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6921447991_0_5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921447991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6921447991_0_4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921447991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6921447991_0_4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921447991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6921447991_0_6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921447991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6921447991_0_6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921447991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6921447991_0_6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921447991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6921447991_0_3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921447991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6921447991_0_5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921447991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6921447991_0_5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921447991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6921447991_0_5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921447991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6921447991_0_5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93c86ce7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g3693c86ce76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93c86ce7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693c86ce76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93c86ce7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3693c86ce76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93c86ce7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693c86ce76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693c86ce7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693c86ce76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93c86ce7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3693c86ce76_0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arxiv.org/abs/1909.08593" TargetMode="External"/><Relationship Id="rId4" Type="http://schemas.openxmlformats.org/officeDocument/2006/relationships/hyperlink" Target="https://youtu.be/qV_rOlHjvvs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006" y="5708679"/>
            <a:ext cx="2195698" cy="7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4850524" y="5062180"/>
            <a:ext cx="406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Thiago Brandenburg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2025/1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949675" y="906950"/>
            <a:ext cx="3863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Inteligência Artificial Generativa: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Parte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Modelos pré-treinados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92210"/>
          <a:stretch/>
        </p:blipFill>
        <p:spPr>
          <a:xfrm flipH="1">
            <a:off x="3779912" y="0"/>
            <a:ext cx="5904657" cy="90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921447991_0_19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LLMs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8" name="Google Shape;98;g36921447991_0_198"/>
          <p:cNvSpPr txBox="1"/>
          <p:nvPr/>
        </p:nvSpPr>
        <p:spPr>
          <a:xfrm>
            <a:off x="116725" y="930750"/>
            <a:ext cx="406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PT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</a:t>
            </a:r>
            <a:r>
              <a:rPr b="1" i="0" lang="pt-BR" sz="1800" u="none" cap="none" strike="noStrik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autoregressivo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 que isso significa?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9" name="Google Shape;99;g36921447991_0_19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g36921447991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6921447991_0_198"/>
          <p:cNvPicPr preferRelativeResize="0"/>
          <p:nvPr/>
        </p:nvPicPr>
        <p:blipFill rotWithShape="1">
          <a:blip r:embed="rId4">
            <a:alphaModFix/>
          </a:blip>
          <a:srcRect b="0" l="2260" r="-2259" t="0"/>
          <a:stretch/>
        </p:blipFill>
        <p:spPr>
          <a:xfrm>
            <a:off x="4179388" y="836700"/>
            <a:ext cx="4762374" cy="30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921447991_0_209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LLMs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" name="Google Shape;107;g36921447991_0_209"/>
          <p:cNvSpPr txBox="1"/>
          <p:nvPr/>
        </p:nvSpPr>
        <p:spPr>
          <a:xfrm>
            <a:off x="116725" y="930750"/>
            <a:ext cx="4062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PT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</a:t>
            </a:r>
            <a:r>
              <a:rPr b="1" i="0" lang="pt-BR" sz="1800" u="none" cap="none" strike="noStrik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autoregressivo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Prevê a próximo token (subpalavra).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Byte-Pair Encoding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 construída com janela deslizante.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" name="Google Shape;108;g36921447991_0_20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36921447991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6921447991_0_209"/>
          <p:cNvPicPr preferRelativeResize="0"/>
          <p:nvPr/>
        </p:nvPicPr>
        <p:blipFill rotWithShape="1">
          <a:blip r:embed="rId4">
            <a:alphaModFix/>
          </a:blip>
          <a:srcRect b="0" l="2260" r="-2259" t="0"/>
          <a:stretch/>
        </p:blipFill>
        <p:spPr>
          <a:xfrm>
            <a:off x="4179388" y="836700"/>
            <a:ext cx="4762374" cy="30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921447991_0_217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LLMs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g36921447991_0_217"/>
          <p:cNvSpPr txBox="1"/>
          <p:nvPr/>
        </p:nvSpPr>
        <p:spPr>
          <a:xfrm>
            <a:off x="116725" y="930750"/>
            <a:ext cx="4062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PT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</a:t>
            </a:r>
            <a:r>
              <a:rPr b="1" i="0" lang="pt-BR" sz="1800" u="none" cap="none" strike="noStrik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autoregressivo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Prevê a próximo token (subpalavra).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Byte-Pair Encoding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 construída com janela deslizante.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Qual é a saída do modelo?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g36921447991_0_21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36921447991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6921447991_0_217"/>
          <p:cNvPicPr preferRelativeResize="0"/>
          <p:nvPr/>
        </p:nvPicPr>
        <p:blipFill rotWithShape="1">
          <a:blip r:embed="rId4">
            <a:alphaModFix/>
          </a:blip>
          <a:srcRect b="0" l="2260" r="-2259" t="0"/>
          <a:stretch/>
        </p:blipFill>
        <p:spPr>
          <a:xfrm>
            <a:off x="4179388" y="836700"/>
            <a:ext cx="4762374" cy="3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6921447991_0_217"/>
          <p:cNvSpPr txBox="1"/>
          <p:nvPr/>
        </p:nvSpPr>
        <p:spPr>
          <a:xfrm>
            <a:off x="4179325" y="3906150"/>
            <a:ext cx="100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Entra: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O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rato roeu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a (?)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21" name="Google Shape;121;g36921447991_0_2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2825" y="4103925"/>
            <a:ext cx="2335399" cy="155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921447991_0_227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LLMs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g36921447991_0_227"/>
          <p:cNvSpPr txBox="1"/>
          <p:nvPr/>
        </p:nvSpPr>
        <p:spPr>
          <a:xfrm>
            <a:off x="116725" y="930750"/>
            <a:ext cx="4062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PT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</a:t>
            </a:r>
            <a:r>
              <a:rPr b="1" i="0" lang="pt-BR" sz="1800" u="none" cap="none" strike="noStrik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autoregressivo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Prevê a próximo token (subpalavra).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Byte-Pair Encoding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 construída com janela deslizante.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Qual é a saída do modelo?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Função de probabilidade de densidade.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Google Shape;128;g36921447991_0_22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6921447991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6921447991_0_227"/>
          <p:cNvPicPr preferRelativeResize="0"/>
          <p:nvPr/>
        </p:nvPicPr>
        <p:blipFill rotWithShape="1">
          <a:blip r:embed="rId4">
            <a:alphaModFix/>
          </a:blip>
          <a:srcRect b="0" l="2260" r="-2259" t="0"/>
          <a:stretch/>
        </p:blipFill>
        <p:spPr>
          <a:xfrm>
            <a:off x="4179388" y="836700"/>
            <a:ext cx="4762374" cy="3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6921447991_0_227"/>
          <p:cNvSpPr txBox="1"/>
          <p:nvPr/>
        </p:nvSpPr>
        <p:spPr>
          <a:xfrm>
            <a:off x="4179325" y="3906150"/>
            <a:ext cx="100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Entra: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O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rato roeu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a (?)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32" name="Google Shape;132;g36921447991_0_2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2825" y="4103925"/>
            <a:ext cx="2335399" cy="155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6921447991_0_227"/>
          <p:cNvSpPr txBox="1"/>
          <p:nvPr/>
        </p:nvSpPr>
        <p:spPr>
          <a:xfrm>
            <a:off x="7601050" y="3906150"/>
            <a:ext cx="1542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“O” → 1%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“rato”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“roeu” → 3%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“a” → 10%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“roupa” → 60%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“do”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“rei”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“de” → 7%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“roma” 4%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sum(y) = 100%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921447991_0_23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LLMs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Google Shape;139;g36921447991_0_238"/>
          <p:cNvSpPr txBox="1"/>
          <p:nvPr/>
        </p:nvSpPr>
        <p:spPr>
          <a:xfrm>
            <a:off x="116725" y="930750"/>
            <a:ext cx="4062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PT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</a:t>
            </a:r>
            <a:r>
              <a:rPr b="1" i="0" lang="pt-BR" sz="1800" u="none" cap="none" strike="noStrik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autoregressivo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Prevê a próximo token (subpalavra).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Byte-Pair Encoding.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 construída com janela deslizante.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Qual é a saída do modelo?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Função de probabilidade de densidade.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Qual </a:t>
            </a: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função de perda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usamos para probabilidades?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Google Shape;140;g36921447991_0_23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36921447991_0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6921447991_0_238"/>
          <p:cNvPicPr preferRelativeResize="0"/>
          <p:nvPr/>
        </p:nvPicPr>
        <p:blipFill rotWithShape="1">
          <a:blip r:embed="rId4">
            <a:alphaModFix/>
          </a:blip>
          <a:srcRect b="0" l="2260" r="-2259" t="0"/>
          <a:stretch/>
        </p:blipFill>
        <p:spPr>
          <a:xfrm>
            <a:off x="4179388" y="836700"/>
            <a:ext cx="4762374" cy="3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6921447991_0_238"/>
          <p:cNvSpPr txBox="1"/>
          <p:nvPr/>
        </p:nvSpPr>
        <p:spPr>
          <a:xfrm>
            <a:off x="4179325" y="3906150"/>
            <a:ext cx="100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Entra: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O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rato roeu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a (?)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44" name="Google Shape;144;g36921447991_0_2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2825" y="4103925"/>
            <a:ext cx="2335399" cy="155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6921447991_0_238"/>
          <p:cNvSpPr txBox="1"/>
          <p:nvPr/>
        </p:nvSpPr>
        <p:spPr>
          <a:xfrm>
            <a:off x="7601050" y="3906150"/>
            <a:ext cx="1542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“O” → 1%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“rato”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“roeu” → 3%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“a” → 10%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“roupa” → 60%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“do”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“rei”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“de” → 7%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“roma” 4%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sum(y) = 100%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921447991_0_25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LLMs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" name="Google Shape;151;g36921447991_0_250"/>
          <p:cNvSpPr txBox="1"/>
          <p:nvPr/>
        </p:nvSpPr>
        <p:spPr>
          <a:xfrm>
            <a:off x="116725" y="930750"/>
            <a:ext cx="40626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PT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</a:t>
            </a:r>
            <a:r>
              <a:rPr b="1" i="0" lang="pt-BR" sz="1800" u="none" cap="none" strike="noStrik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autoregressivo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Prevê a próximo token (subpalavra).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Byte-Pair Encoding.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 construída com janela deslizante.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Qual é a saída do modelo?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Função de probabilidade de densidade.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Qual </a:t>
            </a:r>
            <a:r>
              <a:rPr b="1"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função de perda </a:t>
            </a: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usamos para probabilidades?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Verossimilhança.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○"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Mais utilizada: Cross-entropia.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2" name="Google Shape;152;g36921447991_0_25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g36921447991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6921447991_0_250"/>
          <p:cNvPicPr preferRelativeResize="0"/>
          <p:nvPr/>
        </p:nvPicPr>
        <p:blipFill rotWithShape="1">
          <a:blip r:embed="rId4">
            <a:alphaModFix/>
          </a:blip>
          <a:srcRect b="0" l="2260" r="-2259" t="0"/>
          <a:stretch/>
        </p:blipFill>
        <p:spPr>
          <a:xfrm>
            <a:off x="4179388" y="836700"/>
            <a:ext cx="4762374" cy="3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6921447991_0_250"/>
          <p:cNvSpPr txBox="1"/>
          <p:nvPr/>
        </p:nvSpPr>
        <p:spPr>
          <a:xfrm>
            <a:off x="4179325" y="3906150"/>
            <a:ext cx="100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Entra: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O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rato roeu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a (?)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56" name="Google Shape;156;g36921447991_0_2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2825" y="4103925"/>
            <a:ext cx="2335399" cy="155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6921447991_0_250"/>
          <p:cNvSpPr txBox="1"/>
          <p:nvPr/>
        </p:nvSpPr>
        <p:spPr>
          <a:xfrm>
            <a:off x="7601050" y="3906150"/>
            <a:ext cx="1542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“O” → 1%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“rato”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“roeu” → 3%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“a” → 10%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“roupa” → 60%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“do”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“rei” →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“de” → 7%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“roma” 4%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sum(y) = 100%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g36921447991_0_2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1832" y="5660850"/>
            <a:ext cx="3219219" cy="11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921447991_0_383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g36921447991_0_38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g36921447991_0_3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6921447991_0_383"/>
          <p:cNvSpPr txBox="1"/>
          <p:nvPr/>
        </p:nvSpPr>
        <p:spPr>
          <a:xfrm>
            <a:off x="287025" y="1106175"/>
            <a:ext cx="4000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conceito chave de uma LLM são embeddings: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O que são embeddings?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921447991_0_41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" name="Google Shape;172;g36921447991_0_41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6921447991_0_4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6921447991_0_410"/>
          <p:cNvSpPr txBox="1"/>
          <p:nvPr/>
        </p:nvSpPr>
        <p:spPr>
          <a:xfrm>
            <a:off x="287025" y="1106175"/>
            <a:ext cx="4000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conceito chave de uma LLM são embeddings: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Tokens viram vetores no espaço latente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Posição por</a:t>
            </a:r>
            <a:r>
              <a:rPr lang="pt-BR" sz="1800">
                <a:highlight>
                  <a:srgbClr val="FFFFFF"/>
                </a:highlight>
              </a:rPr>
              <a:t> similaridade.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Operações entre vetores.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175" name="Google Shape;175;g36921447991_0_4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032" y="1106175"/>
            <a:ext cx="4135918" cy="22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921447991_0_41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1" name="Google Shape;181;g36921447991_0_41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6921447991_0_4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6921447991_0_418"/>
          <p:cNvSpPr txBox="1"/>
          <p:nvPr/>
        </p:nvSpPr>
        <p:spPr>
          <a:xfrm>
            <a:off x="287025" y="1106175"/>
            <a:ext cx="4000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conceito chave de uma LLM são embeddings: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Tokens viram vetores no espaço latente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Posição por similaridade.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Operações entre vetores.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3 tipos de embedding: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t/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184" name="Google Shape;184;g36921447991_0_4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032" y="1106175"/>
            <a:ext cx="4135918" cy="22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921447991_0_42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g36921447991_0_42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g36921447991_0_4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6921447991_0_426"/>
          <p:cNvSpPr txBox="1"/>
          <p:nvPr/>
        </p:nvSpPr>
        <p:spPr>
          <a:xfrm>
            <a:off x="287025" y="1106175"/>
            <a:ext cx="4000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conceito chave de uma LLM são embeddings: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Tokens viram vetores no espaço latente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Posição por similaridade.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Operações entre vetores.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3 tipos de embedding: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Textual embedding:</a:t>
            </a:r>
            <a:r>
              <a:rPr lang="pt-BR" sz="1800">
                <a:highlight>
                  <a:srgbClr val="FFFFFF"/>
                </a:highlight>
              </a:rPr>
              <a:t> Tokens para espaço latente.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t/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193" name="Google Shape;193;g36921447991_0_4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032" y="1106175"/>
            <a:ext cx="4135918" cy="22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6921447991_0_426" title="Embedding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9925" y="3471925"/>
            <a:ext cx="4551674" cy="290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921447991_0_43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g36921447991_0_43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6921447991_0_4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6921447991_0_436"/>
          <p:cNvSpPr txBox="1"/>
          <p:nvPr/>
        </p:nvSpPr>
        <p:spPr>
          <a:xfrm>
            <a:off x="287025" y="1106175"/>
            <a:ext cx="40005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conceito chave de uma LLM são embeddings: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Tokens viram vetores no espaço latente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Posição por similaridade.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Operações entre vetores.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3 tipos de embedding: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Textual embedding:</a:t>
            </a:r>
            <a:r>
              <a:rPr lang="pt-BR" sz="1800">
                <a:highlight>
                  <a:srgbClr val="FFFFFF"/>
                </a:highlight>
              </a:rPr>
              <a:t> Tokens para espaço latente.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Positional Embedding:</a:t>
            </a:r>
            <a:r>
              <a:rPr lang="pt-BR" sz="1800">
                <a:highlight>
                  <a:srgbClr val="FFFFFF"/>
                </a:highlight>
              </a:rPr>
              <a:t> Função de frequência conforme posição no </a:t>
            </a:r>
            <a:r>
              <a:rPr lang="pt-BR" sz="1800">
                <a:highlight>
                  <a:srgbClr val="FFFFFF"/>
                </a:highlight>
              </a:rPr>
              <a:t>contexto</a:t>
            </a:r>
            <a:r>
              <a:rPr lang="pt-BR" sz="1800">
                <a:highlight>
                  <a:srgbClr val="FFFFFF"/>
                </a:highlight>
              </a:rPr>
              <a:t>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t/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03" name="Google Shape;203;g36921447991_0_4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032" y="1106175"/>
            <a:ext cx="4135918" cy="22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6921447991_0_4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9925" y="3471925"/>
            <a:ext cx="4551674" cy="297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921447991_0_44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Transformers 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0" name="Google Shape;210;g36921447991_0_44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6921447991_0_4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6921447991_0_446"/>
          <p:cNvSpPr txBox="1"/>
          <p:nvPr/>
        </p:nvSpPr>
        <p:spPr>
          <a:xfrm>
            <a:off x="287025" y="1106175"/>
            <a:ext cx="4000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conceito chave de uma LLM são embeddings: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Tokens viram vetores no espaço latente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Posição por similaridade.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Operações entre vetores.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3 tipos de embedding: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Textual embedding:</a:t>
            </a:r>
            <a:r>
              <a:rPr lang="pt-BR" sz="1800">
                <a:highlight>
                  <a:srgbClr val="FFFFFF"/>
                </a:highlight>
              </a:rPr>
              <a:t> Tokens para espaço latente.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Positional Embedding:</a:t>
            </a:r>
            <a:r>
              <a:rPr lang="pt-BR" sz="1800">
                <a:highlight>
                  <a:srgbClr val="FFFFFF"/>
                </a:highlight>
              </a:rPr>
              <a:t> Função de frequência conforme posição no contexto.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Contextual Embeddings: </a:t>
            </a:r>
            <a:r>
              <a:rPr lang="pt-BR" sz="1800">
                <a:highlight>
                  <a:srgbClr val="FFFFFF"/>
                </a:highlight>
              </a:rPr>
              <a:t>Transformer block.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13" name="Google Shape;213;g36921447991_0_4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032" y="1106175"/>
            <a:ext cx="4135918" cy="22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6921447991_0_4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4650" y="3255575"/>
            <a:ext cx="1782650" cy="33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921447991_0_560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Desenvolvendo soluções com Gen AI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0" name="Google Shape;220;g36921447991_0_56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36921447991_0_5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6921447991_0_560"/>
          <p:cNvSpPr txBox="1"/>
          <p:nvPr/>
        </p:nvSpPr>
        <p:spPr>
          <a:xfrm>
            <a:off x="286900" y="1542400"/>
            <a:ext cx="609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Precisamos desenvolver soluções utilizando Gen AI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Se coloquem no lugar de vocês mesmos.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921447991_0_589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Desenvolvendo soluções com Gen AI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g36921447991_0_58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6921447991_0_5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6921447991_0_5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625" y="3587950"/>
            <a:ext cx="2781475" cy="297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6921447991_0_589"/>
          <p:cNvSpPr txBox="1"/>
          <p:nvPr/>
        </p:nvSpPr>
        <p:spPr>
          <a:xfrm>
            <a:off x="286900" y="1542400"/>
            <a:ext cx="609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Precisamos desenvolver soluções utilizando Gen AI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Se coloquem no lugar de vocês mesmos.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921447991_0_598"/>
          <p:cNvSpPr txBox="1"/>
          <p:nvPr/>
        </p:nvSpPr>
        <p:spPr>
          <a:xfrm>
            <a:off x="393550" y="333525"/>
            <a:ext cx="875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Desenvolvendo soluções com Gen AI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7" name="Google Shape;237;g36921447991_0_59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6921447991_0_5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6921447991_0_5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625" y="3587950"/>
            <a:ext cx="2781475" cy="297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6921447991_0_598"/>
          <p:cNvSpPr txBox="1"/>
          <p:nvPr/>
        </p:nvSpPr>
        <p:spPr>
          <a:xfrm>
            <a:off x="286900" y="1542400"/>
            <a:ext cx="6094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Precisamos desenvolver soluções utilizando Gen AI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Se coloquem no lugar de vocês mesmos.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Precisamos levar várias limitações em consideração: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Custo.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Hardware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Tempo.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Idealmente, soluções utilizando Gen Ai devem ser o mais baratas possíveis, rápidas de construir e utilizam a infraestrutura que fornecida.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921447991_0_47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LLMs são caros!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g36921447991_0_47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g36921447991_0_4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6921447991_0_470"/>
          <p:cNvSpPr txBox="1"/>
          <p:nvPr/>
        </p:nvSpPr>
        <p:spPr>
          <a:xfrm>
            <a:off x="287025" y="1106175"/>
            <a:ext cx="766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Relembrando: LLMs são caros!!!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Na prática, utilizamos</a:t>
            </a:r>
            <a:r>
              <a:rPr b="1" lang="pt-BR" sz="1800">
                <a:highlight>
                  <a:srgbClr val="FFFFFF"/>
                </a:highlight>
              </a:rPr>
              <a:t> modelos pré-treinados</a:t>
            </a:r>
            <a:r>
              <a:rPr lang="pt-BR" sz="1800">
                <a:highlight>
                  <a:srgbClr val="FFFFFF"/>
                </a:highlight>
              </a:rPr>
              <a:t> por companhias de IA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249" name="Google Shape;249;g36921447991_0_4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941" y="1773254"/>
            <a:ext cx="8618120" cy="4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921447991_0_459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Revisão: Otimização de custo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5" name="Google Shape;255;g36921447991_0_45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6921447991_0_4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6921447991_0_459"/>
          <p:cNvSpPr txBox="1"/>
          <p:nvPr/>
        </p:nvSpPr>
        <p:spPr>
          <a:xfrm>
            <a:off x="271250" y="980025"/>
            <a:ext cx="37023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Pre-training: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Base grande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não estruturada.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Somente </a:t>
            </a:r>
            <a:r>
              <a:rPr lang="pt-BR" sz="1800">
                <a:highlight>
                  <a:srgbClr val="FFFFFF"/>
                </a:highlight>
              </a:rPr>
              <a:t>prevê</a:t>
            </a:r>
            <a:r>
              <a:rPr lang="pt-BR" sz="1800">
                <a:highlight>
                  <a:srgbClr val="FFFFFF"/>
                </a:highlight>
              </a:rPr>
              <a:t> a próxima palavra.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Modelo Fundacional.</a:t>
            </a:r>
            <a:endParaRPr b="1"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Fine-tuning: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Bases menores.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Funções especializadas.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Modelos finais diferentes.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Ex: Copilot e ChatGPT</a:t>
            </a:r>
            <a:endParaRPr sz="1800">
              <a:highlight>
                <a:srgbClr val="FFFFFF"/>
              </a:highlight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Modelos tunados são oferecidos como serviços.</a:t>
            </a:r>
            <a:endParaRPr b="1" sz="1800">
              <a:highlight>
                <a:srgbClr val="FFFFFF"/>
              </a:highlight>
            </a:endParaRPr>
          </a:p>
        </p:txBody>
      </p:sp>
      <p:pic>
        <p:nvPicPr>
          <p:cNvPr id="258" name="Google Shape;258;g36921447991_0_459" title="modelo generativo-Tudo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553" y="1662626"/>
            <a:ext cx="5170450" cy="353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g36921447991_0_5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15" y="2642545"/>
            <a:ext cx="7503517" cy="4030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6921447991_0_551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Modelos como serviço,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5" name="Google Shape;265;g36921447991_0_55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g36921447991_0_5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6921447991_0_551"/>
          <p:cNvSpPr txBox="1"/>
          <p:nvPr/>
        </p:nvSpPr>
        <p:spPr>
          <a:xfrm>
            <a:off x="287025" y="1057750"/>
            <a:ext cx="764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Companhias como a Google e a OpenAI disponibilizam seus modelos por API: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Vantagens: Velocidade, processamento em nuvem.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Desvantagens: </a:t>
            </a:r>
            <a:r>
              <a:rPr b="1" lang="pt-BR" sz="1800">
                <a:highlight>
                  <a:srgbClr val="FFFFFF"/>
                </a:highlight>
              </a:rPr>
              <a:t>Custo por token, </a:t>
            </a:r>
            <a:r>
              <a:rPr lang="pt-BR" sz="1800">
                <a:highlight>
                  <a:srgbClr val="FFFFFF"/>
                </a:highlight>
              </a:rPr>
              <a:t>privacidade, opções limitadas de tuning.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921447991_0_479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Modelos Open-Source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3" name="Google Shape;273;g36921447991_0_47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g36921447991_0_4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6921447991_0_479"/>
          <p:cNvSpPr txBox="1"/>
          <p:nvPr/>
        </p:nvSpPr>
        <p:spPr>
          <a:xfrm>
            <a:off x="287025" y="1106175"/>
            <a:ext cx="46209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Um alternativa as APIs pagas é </a:t>
            </a:r>
            <a:r>
              <a:rPr b="1" lang="pt-BR" sz="1800">
                <a:highlight>
                  <a:srgbClr val="FFFFFF"/>
                </a:highlight>
              </a:rPr>
              <a:t>baixar e rodar localmente modelos open-source.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Geralmente disponibilizados pela plataforma </a:t>
            </a:r>
            <a:r>
              <a:rPr b="1" lang="pt-BR" sz="1800">
                <a:highlight>
                  <a:srgbClr val="FFFFFF"/>
                </a:highlight>
              </a:rPr>
              <a:t>HuggingFace.</a:t>
            </a:r>
            <a:endParaRPr b="1"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Vantagens: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Sem custo por requisição.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Segurança de dados.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Podemos tunar livremente para nossas soluções.</a:t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Desvantagens: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Limitações de hardware (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CPU,</a:t>
            </a:r>
            <a:r>
              <a:rPr lang="pt-BR" sz="1800">
                <a:highlight>
                  <a:srgbClr val="FFFFFF"/>
                </a:highlight>
              </a:rPr>
              <a:t> GPU, VRAM e RAM)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</p:txBody>
      </p:sp>
      <p:pic>
        <p:nvPicPr>
          <p:cNvPr id="276" name="Google Shape;276;g36921447991_0_4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9938" y="2563176"/>
            <a:ext cx="1402326" cy="99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6921447991_0_4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9950" y="4093100"/>
            <a:ext cx="1402325" cy="140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6921447991_0_479"/>
          <p:cNvSpPr txBox="1"/>
          <p:nvPr/>
        </p:nvSpPr>
        <p:spPr>
          <a:xfrm>
            <a:off x="7158325" y="3631400"/>
            <a:ext cx="18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Mistral/Mixtral</a:t>
            </a:r>
            <a:endParaRPr/>
          </a:p>
        </p:txBody>
      </p:sp>
      <p:sp>
        <p:nvSpPr>
          <p:cNvPr id="279" name="Google Shape;279;g36921447991_0_479"/>
          <p:cNvSpPr txBox="1"/>
          <p:nvPr/>
        </p:nvSpPr>
        <p:spPr>
          <a:xfrm>
            <a:off x="7158250" y="5362675"/>
            <a:ext cx="198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Deepseek</a:t>
            </a:r>
            <a:endParaRPr/>
          </a:p>
        </p:txBody>
      </p:sp>
      <p:pic>
        <p:nvPicPr>
          <p:cNvPr id="280" name="Google Shape;280;g36921447991_0_4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9076" y="2467821"/>
            <a:ext cx="1181125" cy="118110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6921447991_0_479"/>
          <p:cNvSpPr txBox="1"/>
          <p:nvPr/>
        </p:nvSpPr>
        <p:spPr>
          <a:xfrm>
            <a:off x="5959850" y="3631400"/>
            <a:ext cx="12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Llama</a:t>
            </a:r>
            <a:endParaRPr/>
          </a:p>
        </p:txBody>
      </p:sp>
      <p:pic>
        <p:nvPicPr>
          <p:cNvPr id="282" name="Google Shape;282;g36921447991_0_4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4587" y="4469211"/>
            <a:ext cx="1490099" cy="89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6921447991_0_479"/>
          <p:cNvSpPr txBox="1"/>
          <p:nvPr/>
        </p:nvSpPr>
        <p:spPr>
          <a:xfrm>
            <a:off x="5992471" y="5362675"/>
            <a:ext cx="14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Phi</a:t>
            </a:r>
            <a:endParaRPr/>
          </a:p>
        </p:txBody>
      </p:sp>
      <p:pic>
        <p:nvPicPr>
          <p:cNvPr id="284" name="Google Shape;284;g36921447991_0_4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1874" y="599377"/>
            <a:ext cx="4243401" cy="212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6921447991_0_4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68200" y="2467813"/>
            <a:ext cx="1181125" cy="11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6921447991_0_479"/>
          <p:cNvSpPr txBox="1"/>
          <p:nvPr/>
        </p:nvSpPr>
        <p:spPr>
          <a:xfrm>
            <a:off x="4557659" y="3631400"/>
            <a:ext cx="14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Gwen</a:t>
            </a:r>
            <a:endParaRPr/>
          </a:p>
        </p:txBody>
      </p:sp>
      <p:pic>
        <p:nvPicPr>
          <p:cNvPr id="287" name="Google Shape;287;g36921447991_0_4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64141" y="4543413"/>
            <a:ext cx="1746049" cy="74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6921447991_0_479"/>
          <p:cNvSpPr txBox="1"/>
          <p:nvPr/>
        </p:nvSpPr>
        <p:spPr>
          <a:xfrm>
            <a:off x="4636071" y="5362675"/>
            <a:ext cx="14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Bloom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921447991_0_497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Especializando LLMS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4" name="Google Shape;294;g36921447991_0_49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g36921447991_0_4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6921447991_0_497"/>
          <p:cNvSpPr txBox="1"/>
          <p:nvPr/>
        </p:nvSpPr>
        <p:spPr>
          <a:xfrm>
            <a:off x="287025" y="1106175"/>
            <a:ext cx="4641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Esses modelos são genéricos, e precisam ser especializados para tarefas: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Serviços oferecidos pelas empresas de IA.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Nossas soluções.</a:t>
            </a:r>
            <a:endParaRPr sz="1800"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Existem duas formas de especializar um modelo numa tarefa: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Prompting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Fine-tuning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921447991_0_625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Prompting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2" name="Google Shape;302;g36921447991_0_62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g36921447991_0_6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6921447991_0_625"/>
          <p:cNvSpPr txBox="1"/>
          <p:nvPr/>
        </p:nvSpPr>
        <p:spPr>
          <a:xfrm>
            <a:off x="287025" y="980025"/>
            <a:ext cx="88569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Instruções carregadas no modelo pela entrada.</a:t>
            </a:r>
            <a:endParaRPr sz="1800"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Zero-Shot</a:t>
            </a:r>
            <a:r>
              <a:rPr lang="pt-BR" sz="1800">
                <a:highlight>
                  <a:srgbClr val="FFFFFF"/>
                </a:highlight>
              </a:rPr>
              <a:t>: Instrução sem exemplos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“Classifique o texto como neutro, negativo ou positivo.</a:t>
            </a:r>
            <a:endParaRPr sz="1800">
              <a:highlight>
                <a:srgbClr val="FFFFFF"/>
              </a:highlight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highlight>
                  <a:srgbClr val="FFFFFF"/>
                </a:highlight>
              </a:rPr>
              <a:t>Texto: Eu acho que as férias estão ok. Sentimento:”</a:t>
            </a:r>
            <a:endParaRPr sz="18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One-Shot/Few-Shot</a:t>
            </a:r>
            <a:r>
              <a:rPr lang="pt-BR" sz="1800">
                <a:highlight>
                  <a:srgbClr val="FFFFFF"/>
                </a:highlight>
              </a:rPr>
              <a:t>: Mútiplos exemplos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“Texto: Isso é ruim!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Sentimento: Negativo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highlight>
                  <a:srgbClr val="FFFFFF"/>
                </a:highlight>
              </a:rPr>
              <a:t>Texto: Uau, esse filme foi incrível!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Sentimento: Positivo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Texto: Eu acho que as férias estão ok. Sentimento: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”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Exemplos de Prompting avançado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: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Sistemas RAG usam prompting para induzir modelos generativos a produzirem queries para busca em bases externas.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Sistemas multi-agentes sincronizam múltiplos LLMs por prompting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Problemas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Consome posições no contexto.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Escalabilidade.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921447991_0_632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Fine Tuning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0" name="Google Shape;310;g36921447991_0_63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36921447991_0_6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6921447991_0_632"/>
          <p:cNvSpPr txBox="1"/>
          <p:nvPr/>
        </p:nvSpPr>
        <p:spPr>
          <a:xfrm>
            <a:off x="287025" y="980025"/>
            <a:ext cx="4867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O processo de tuning é muito parecido ao processo de pré-treino: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Diferenças</a:t>
            </a:r>
            <a:r>
              <a:rPr lang="pt-BR" sz="1800">
                <a:highlight>
                  <a:srgbClr val="FFFFFF"/>
                </a:highlight>
              </a:rPr>
              <a:t>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Dataset</a:t>
            </a:r>
            <a:r>
              <a:rPr lang="pt-BR" sz="1800">
                <a:highlight>
                  <a:srgbClr val="FFFFFF"/>
                </a:highlight>
              </a:rPr>
              <a:t>: Ao invés da grande base inicial, utilizamos datasets especializados para funções </a:t>
            </a:r>
            <a:r>
              <a:rPr lang="pt-BR" sz="1800">
                <a:highlight>
                  <a:srgbClr val="FFFFFF"/>
                </a:highlight>
              </a:rPr>
              <a:t>específicas</a:t>
            </a:r>
            <a:r>
              <a:rPr lang="pt-BR" sz="1800">
                <a:highlight>
                  <a:srgbClr val="FFFFFF"/>
                </a:highlight>
              </a:rPr>
              <a:t>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Pesos</a:t>
            </a:r>
            <a:r>
              <a:rPr lang="pt-BR" sz="1800">
                <a:highlight>
                  <a:srgbClr val="FFFFFF"/>
                </a:highlight>
              </a:rPr>
              <a:t>: Não partimos de pesos aleatórios. </a:t>
            </a:r>
            <a:r>
              <a:rPr b="1" lang="pt-BR" sz="1800">
                <a:highlight>
                  <a:srgbClr val="FFFFFF"/>
                </a:highlight>
              </a:rPr>
              <a:t>Usamos os pesos já aprendidos no pré-treino.</a:t>
            </a:r>
            <a:endParaRPr b="1"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Idealmente, queremos que o </a:t>
            </a:r>
            <a:r>
              <a:rPr b="1" lang="pt-BR" sz="1800">
                <a:highlight>
                  <a:srgbClr val="FFFFFF"/>
                </a:highlight>
              </a:rPr>
              <a:t>tuning seja mais rápido e leve que o pré-treino</a:t>
            </a:r>
            <a:r>
              <a:rPr lang="pt-BR" sz="1800">
                <a:highlight>
                  <a:srgbClr val="FFFFFF"/>
                </a:highlight>
              </a:rPr>
              <a:t>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Simplificações do modelo.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Otimizações no ajuste dos pesos.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313" name="Google Shape;313;g36921447991_0_6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150" y="2126325"/>
            <a:ext cx="3684676" cy="2086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921447991_0_60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Selecionando modelos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9" name="Google Shape;319;g36921447991_0_60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g36921447991_0_6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6921447991_0_606"/>
          <p:cNvSpPr txBox="1"/>
          <p:nvPr/>
        </p:nvSpPr>
        <p:spPr>
          <a:xfrm>
            <a:off x="287025" y="1106175"/>
            <a:ext cx="78867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Vamos utilizar como exemplo a família LLama 3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de modelos </a:t>
            </a:r>
            <a:r>
              <a:rPr lang="pt-BR" sz="1800">
                <a:highlight>
                  <a:srgbClr val="FFFFFF"/>
                </a:highlight>
              </a:rPr>
              <a:t>: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LLama 3 1B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LLama 3 3B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LLama 3 8B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LLama 3 13B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…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LLama 3.1 8B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Dentre outros.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 principal identificador de um modelo é seu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número de parâmetro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s, geralmente representado na ordem dos Bilhões (B).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Um modelo grande utiliza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Para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MoEs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, é usado os parâmetros em uso.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O número de parâmetros é o principal indicador da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capacidade 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do modelo. Contudo também é o principal indicador de </a:t>
            </a: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consumo de recursos</a:t>
            </a: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 do modelo.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Como calcular?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22" name="Google Shape;322;g36921447991_0_6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450" y="1395925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921447991_0_37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Memória necessária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g36921447991_0_37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6921447991_0_3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6921447991_0_376"/>
          <p:cNvSpPr txBox="1"/>
          <p:nvPr/>
        </p:nvSpPr>
        <p:spPr>
          <a:xfrm>
            <a:off x="287025" y="2107875"/>
            <a:ext cx="6675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Geralmente </a:t>
            </a:r>
            <a:r>
              <a:rPr lang="pt-BR" sz="1800">
                <a:highlight>
                  <a:srgbClr val="FFFFFF"/>
                </a:highlight>
              </a:rPr>
              <a:t>parâmetros</a:t>
            </a:r>
            <a:r>
              <a:rPr lang="pt-BR" sz="1800">
                <a:highlight>
                  <a:srgbClr val="FFFFFF"/>
                </a:highlight>
              </a:rPr>
              <a:t> são números float32 (4 bytes)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Geralmente o overhead utilizado é de 20%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Exemplo: LLama 8B</a:t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331" name="Google Shape;331;g36921447991_0_3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638" y="1568463"/>
            <a:ext cx="58007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921447991_0_52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g36921447991_0_5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6921447991_0_520"/>
          <p:cNvSpPr txBox="1"/>
          <p:nvPr/>
        </p:nvSpPr>
        <p:spPr>
          <a:xfrm>
            <a:off x="287025" y="2107875"/>
            <a:ext cx="6675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Geralmente parâmetros são números float32 (4 bytes)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Geralmente o overhead utilizado é de 20%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Exemplo: LLama 8B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8B * 4 bytes * 1.2 = 38.4B bytes = </a:t>
            </a:r>
            <a:r>
              <a:rPr b="1" lang="pt-BR" sz="1800">
                <a:highlight>
                  <a:srgbClr val="FFFFFF"/>
                </a:highlight>
              </a:rPr>
              <a:t>38.4 GB</a:t>
            </a:r>
            <a:endParaRPr b="1"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</p:txBody>
      </p:sp>
      <p:pic>
        <p:nvPicPr>
          <p:cNvPr id="339" name="Google Shape;339;g36921447991_0_5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638" y="1568463"/>
            <a:ext cx="580072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6921447991_0_520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Memória necessária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921447991_0_52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g36921447991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6921447991_0_528"/>
          <p:cNvSpPr txBox="1"/>
          <p:nvPr/>
        </p:nvSpPr>
        <p:spPr>
          <a:xfrm>
            <a:off x="287025" y="2107875"/>
            <a:ext cx="6675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Geralmente parâmetros são números float32 (4 bytes)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Geralmente o overhead utilizado é de 20%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Exemplo: LLama 8B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8B * 4 bytes * 1.2 = 38.4B bytes = </a:t>
            </a:r>
            <a:r>
              <a:rPr b="1" lang="pt-BR" sz="1800">
                <a:highlight>
                  <a:srgbClr val="FFFFFF"/>
                </a:highlight>
              </a:rPr>
              <a:t>38.4 GB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O LLama 8B é considerado um modelo pequeno.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O GPT 3.5 tinha 175B</a:t>
            </a:r>
            <a:endParaRPr sz="1800">
              <a:highlight>
                <a:srgbClr val="FFFFFF"/>
              </a:highlight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Como deixar esses modelos mais leves?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O nosso objetivo ao tunar um modelo é tornar o processo o mais leve possível.</a:t>
            </a:r>
            <a:endParaRPr b="1" sz="1800">
              <a:highlight>
                <a:srgbClr val="FFFFFF"/>
              </a:highlight>
            </a:endParaRPr>
          </a:p>
        </p:txBody>
      </p:sp>
      <p:pic>
        <p:nvPicPr>
          <p:cNvPr id="348" name="Google Shape;348;g36921447991_0_5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638" y="1568463"/>
            <a:ext cx="580072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6921447991_0_528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Memória necessária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921447991_0_536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Quantização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5" name="Google Shape;355;g36921447991_0_53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g36921447991_0_5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6921447991_0_536"/>
          <p:cNvSpPr txBox="1"/>
          <p:nvPr/>
        </p:nvSpPr>
        <p:spPr>
          <a:xfrm>
            <a:off x="286900" y="1090800"/>
            <a:ext cx="8856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O processo de reduzir a precisão dos parâmetros de um LLM já treinado é chamado de quantização: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float32 para float16: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Corta na metade uso de memória.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Não é compatível com todas as CPUs.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float32 para int8: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Reduz em x4 a memória.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É necessário um algoritmo de conversão.</a:t>
            </a:r>
            <a:endParaRPr sz="1800">
              <a:highlight>
                <a:srgbClr val="FFFFFF"/>
              </a:highlight>
            </a:endParaRPr>
          </a:p>
          <a:p>
            <a: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>
                <a:highlight>
                  <a:srgbClr val="FFFFFF"/>
                </a:highlight>
              </a:rPr>
              <a:t>Diferentes técnicas disponíveis.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LLama 3.1 8B rodaria em um PC com 16GB de memória principal.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O que é melhor? Mais parâmetros ou menos quantização?</a:t>
            </a:r>
            <a:endParaRPr b="1"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921447991_0_544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Quantização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3" name="Google Shape;363;g36921447991_0_54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g36921447991_0_5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6921447991_0_544"/>
          <p:cNvSpPr txBox="1"/>
          <p:nvPr/>
        </p:nvSpPr>
        <p:spPr>
          <a:xfrm>
            <a:off x="286900" y="1090800"/>
            <a:ext cx="8856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O processo de reduzir a precisão dos parâmetros de um LLM já treinado é chamado de quantização: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float32 para float16: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Corta na metade uso de memória.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Não é compatível com todas as CPUs.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>
                <a:highlight>
                  <a:srgbClr val="FFFFFF"/>
                </a:highlight>
              </a:rPr>
              <a:t>float32 para int8: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Reduz em x4 a memória.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É necessário um algoritmo de conversão.</a:t>
            </a:r>
            <a:endParaRPr sz="1800">
              <a:highlight>
                <a:srgbClr val="FFFFFF"/>
              </a:highlight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  <a:highlight>
                  <a:schemeClr val="lt1"/>
                </a:highlight>
              </a:rPr>
              <a:t>Diferentes técnicas disponíveis.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LLama 3.1 8B rodaria em um PC com 16GB de memória principal.</a:t>
            </a:r>
            <a:endParaRPr sz="1800"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>
                <a:highlight>
                  <a:srgbClr val="FFFFFF"/>
                </a:highlight>
              </a:rPr>
              <a:t>O que é melhor? Mais parâmetros ou menos quantização?</a:t>
            </a:r>
            <a:endParaRPr b="1" sz="1800"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>
                <a:highlight>
                  <a:srgbClr val="FFFFFF"/>
                </a:highlight>
              </a:rPr>
              <a:t>Regra: </a:t>
            </a:r>
            <a:r>
              <a:rPr lang="pt-BR" sz="1800">
                <a:highlight>
                  <a:srgbClr val="FFFFFF"/>
                </a:highlight>
              </a:rPr>
              <a:t>Parâmetros</a:t>
            </a:r>
            <a:r>
              <a:rPr lang="pt-BR" sz="1800">
                <a:highlight>
                  <a:srgbClr val="FFFFFF"/>
                </a:highlight>
              </a:rPr>
              <a:t> afetam mais que quantização em modelos pequenos.</a:t>
            </a:r>
            <a:endParaRPr sz="1800">
              <a:highlight>
                <a:srgbClr val="FFFFFF"/>
              </a:highlight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>
                <a:highlight>
                  <a:srgbClr val="FFFFFF"/>
                </a:highlight>
              </a:rPr>
              <a:t>Use modelos quantizados com mais </a:t>
            </a:r>
            <a:r>
              <a:rPr lang="pt-BR" sz="1800">
                <a:highlight>
                  <a:srgbClr val="FFFFFF"/>
                </a:highlight>
              </a:rPr>
              <a:t>parâmetros</a:t>
            </a:r>
            <a:r>
              <a:rPr lang="pt-BR" sz="1800">
                <a:highlight>
                  <a:srgbClr val="FFFFFF"/>
                </a:highlight>
              </a:rPr>
              <a:t>!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93c86ce76_0_46"/>
          <p:cNvSpPr txBox="1"/>
          <p:nvPr/>
        </p:nvSpPr>
        <p:spPr>
          <a:xfrm>
            <a:off x="393550" y="333525"/>
            <a:ext cx="875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LoRA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1" name="Google Shape;371;g3693c86ce76_0_46"/>
          <p:cNvSpPr txBox="1"/>
          <p:nvPr/>
        </p:nvSpPr>
        <p:spPr>
          <a:xfrm>
            <a:off x="290575" y="980025"/>
            <a:ext cx="885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Problema: Os pesos quantizados são menores, mas não são ajustáveis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Solução: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2" name="Google Shape;372;g3693c86ce76_0_4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g3693c86ce76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693c86ce76_0_36"/>
          <p:cNvSpPr txBox="1"/>
          <p:nvPr/>
        </p:nvSpPr>
        <p:spPr>
          <a:xfrm>
            <a:off x="393550" y="333525"/>
            <a:ext cx="875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LoRA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9" name="Google Shape;379;g3693c86ce76_0_36"/>
          <p:cNvSpPr txBox="1"/>
          <p:nvPr/>
        </p:nvSpPr>
        <p:spPr>
          <a:xfrm>
            <a:off x="290575" y="980025"/>
            <a:ext cx="8853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Problema: Os pesos quantizados são menores, mas não são ajustáveis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Solução: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■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Criar uma nova matriz de pesos ajustável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■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Somar com a matriz quantizada.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0" name="Google Shape;380;g3693c86ce76_0_3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3693c86ce76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693c86ce76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25" y="3031475"/>
            <a:ext cx="3252499" cy="7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g3693c86ce76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00" y="3105749"/>
            <a:ext cx="5198603" cy="6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693c86ce76_0_56"/>
          <p:cNvSpPr txBox="1"/>
          <p:nvPr/>
        </p:nvSpPr>
        <p:spPr>
          <a:xfrm>
            <a:off x="393550" y="333525"/>
            <a:ext cx="875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LoRA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9" name="Google Shape;389;g3693c86ce76_0_56"/>
          <p:cNvSpPr txBox="1"/>
          <p:nvPr/>
        </p:nvSpPr>
        <p:spPr>
          <a:xfrm>
            <a:off x="290575" y="980025"/>
            <a:ext cx="8853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Problema: Os pesos quantizados são menores, mas não são ajustáveis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Solução: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■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Criar uma nova matriz de pesos ajustável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■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Somar com a matriz quantizada.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Ao invés de </a:t>
            </a: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ajustarmos uma matriz de pesos idêntica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d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ecompomos a matriz em um produto vetorial.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Onde temos uma matriz de pesos?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0" name="Google Shape;390;g3693c86ce76_0_5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g3693c86ce76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693c86ce76_0_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575" y="3786526"/>
            <a:ext cx="5376226" cy="245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g3693c86ce76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00" y="3105749"/>
            <a:ext cx="5198603" cy="6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693c86ce76_0_67"/>
          <p:cNvSpPr txBox="1"/>
          <p:nvPr/>
        </p:nvSpPr>
        <p:spPr>
          <a:xfrm>
            <a:off x="393550" y="333525"/>
            <a:ext cx="875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Tuning: LoRA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9" name="Google Shape;399;g3693c86ce76_0_67"/>
          <p:cNvSpPr txBox="1"/>
          <p:nvPr/>
        </p:nvSpPr>
        <p:spPr>
          <a:xfrm>
            <a:off x="290575" y="980025"/>
            <a:ext cx="8853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Problema: Os pesos quantizados são menores, mas não são ajustáveis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Solução: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■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Criar uma nova matriz de pesos ajustável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■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Somar com a matriz quantizada.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Ao invés de </a:t>
            </a: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ajustarmos uma matriz de pesos idêntica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decompomos a matriz em um produto vetorial.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Onde temos uma matriz de pesos?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■"/>
            </a:pP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Mecanismo de atenção.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0" name="Google Shape;400;g3693c86ce76_0_6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g3693c86ce76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693c86ce76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575" y="3786526"/>
            <a:ext cx="5376226" cy="245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693c86ce76_0_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3521" y="3786525"/>
            <a:ext cx="3390479" cy="259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93c86ce76_0_77"/>
          <p:cNvSpPr txBox="1"/>
          <p:nvPr/>
        </p:nvSpPr>
        <p:spPr>
          <a:xfrm>
            <a:off x="393550" y="333525"/>
            <a:ext cx="875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Questionário: código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9" name="Google Shape;409;g3693c86ce76_0_77"/>
          <p:cNvSpPr txBox="1"/>
          <p:nvPr/>
        </p:nvSpPr>
        <p:spPr>
          <a:xfrm>
            <a:off x="290575" y="980025"/>
            <a:ext cx="8750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Disponibilizei um Jupyter Notebook para tunar o modelo </a:t>
            </a: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Phi-3-mini-4k-instruct,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modelo Open-Source pequeno da Microsoft.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○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 tuning é feito com um dataset de falas do mestre yoda.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versão quantizada desse modelo roda tranquilamente no collab com GPU.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0" name="Google Shape;410;g3693c86ce76_0_7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g3693c86ce76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693c86ce76_0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75" y="2740800"/>
            <a:ext cx="8248850" cy="34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93c86ce76_0_97"/>
          <p:cNvSpPr txBox="1"/>
          <p:nvPr/>
        </p:nvSpPr>
        <p:spPr>
          <a:xfrm>
            <a:off x="393550" y="333525"/>
            <a:ext cx="87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Questionário: Conteúdo extra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8" name="Google Shape;418;g3693c86ce76_0_97"/>
          <p:cNvSpPr txBox="1"/>
          <p:nvPr/>
        </p:nvSpPr>
        <p:spPr>
          <a:xfrm>
            <a:off x="287025" y="1420350"/>
            <a:ext cx="45531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-"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Um tipo específico de fine-tuning é o </a:t>
            </a:r>
            <a:r>
              <a:rPr b="1" i="1" lang="pt-BR" sz="1700">
                <a:latin typeface="Verdana"/>
                <a:ea typeface="Verdana"/>
                <a:cs typeface="Verdana"/>
                <a:sym typeface="Verdana"/>
              </a:rPr>
              <a:t>Reinforcement</a:t>
            </a:r>
            <a:r>
              <a:rPr b="1" i="1" lang="pt-BR" sz="1700">
                <a:latin typeface="Verdana"/>
                <a:ea typeface="Verdana"/>
                <a:cs typeface="Verdana"/>
                <a:sym typeface="Verdana"/>
              </a:rPr>
              <a:t> Learning by Human Feedback (</a:t>
            </a:r>
            <a:r>
              <a:rPr b="1" i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RLHF)</a:t>
            </a:r>
            <a:endParaRPr b="1" i="1"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-"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Duas opções de leitura: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-"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Artigo sobre RLHF </a:t>
            </a:r>
            <a:r>
              <a:rPr lang="pt-BR" sz="17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Fine-Tuning Language Models from Human Preferences. 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pt-BR" sz="1800">
                <a:latin typeface="Verdana"/>
                <a:ea typeface="Verdana"/>
                <a:cs typeface="Verdana"/>
                <a:sym typeface="Verdana"/>
              </a:rPr>
              <a:t>Vídeo: </a:t>
            </a:r>
            <a:r>
              <a:rPr b="1" lang="pt-BR" sz="1800" u="sng">
                <a:solidFill>
                  <a:schemeClr val="hlink"/>
                </a:solidFill>
                <a:hlinkClick r:id="rId4"/>
              </a:rPr>
              <a:t>Maximally bad output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-"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Vai ter 1 questão sobre RLHF no questionário.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-"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Entrega dos questionários (Aulas 2,3 e 4) de LLM: </a:t>
            </a:r>
            <a:r>
              <a:rPr b="1" lang="pt-BR" sz="17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Domingo </a:t>
            </a: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22/06, </a:t>
            </a:r>
            <a:r>
              <a:rPr b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23:59!!!!!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9" name="Google Shape;419;g3693c86ce76_0_9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g3693c86ce76_0_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693c86ce76_0_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8900" y="2376510"/>
            <a:ext cx="4235002" cy="2382187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693c86ce76_0_97"/>
          <p:cNvSpPr txBox="1"/>
          <p:nvPr/>
        </p:nvSpPr>
        <p:spPr>
          <a:xfrm>
            <a:off x="4908850" y="4235350"/>
            <a:ext cx="42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6"/>
          <p:cNvSpPr txBox="1"/>
          <p:nvPr/>
        </p:nvSpPr>
        <p:spPr>
          <a:xfrm>
            <a:off x="393549" y="333523"/>
            <a:ext cx="619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Referências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9" name="Google Shape;429;p16"/>
          <p:cNvSpPr/>
          <p:nvPr/>
        </p:nvSpPr>
        <p:spPr>
          <a:xfrm flipH="1" rot="10800000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 txBox="1"/>
          <p:nvPr/>
        </p:nvSpPr>
        <p:spPr>
          <a:xfrm>
            <a:off x="287025" y="1032050"/>
            <a:ext cx="8716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Char char="●"/>
            </a:pPr>
            <a:r>
              <a:rPr lang="pt-BR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LLM-STATS. LLM Comparison. Disponível em: https://llm-stats.com. 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Char char="●"/>
            </a:pPr>
            <a:r>
              <a:rPr lang="pt-BR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ASIMOV ACADEMY. Zero, One e Few-shot Prompts: entendendo os conceitos básicos. [S. l.], [2023?]. Disponível em: https://hub.asimov.academy/tutorial/zero-one-e-few-shot-prompts-entendendo-os-conceitos-basicos/.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Char char="●"/>
            </a:pPr>
            <a:r>
              <a:rPr lang="pt-BR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GODOY, D. V. Fine-tuning your first LLM. Hugging Face Blog, [2023?]. Disponível em: https://huggingface.co/blog/dvgodoy/fine-tuning-llm-hugging-face. 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Char char="●"/>
            </a:pPr>
            <a:r>
              <a:rPr lang="pt-BR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PYTHON PLAIN ENGLISH. Fine-tune LLMs: A Comprehensive Guide Between Full &amp; Partial Fine-Tuning. [S. l.], [2023?]. Disponível em: https://python.plainenglish.io/fine-tune-llms-a-comprehensive-guide-between-full-partial-fine-tuning-an-end-to-end-python-3fa7223f5519. 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Char char="●"/>
            </a:pPr>
            <a:r>
              <a:rPr lang="pt-BR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HUGGING FACE. Quantization. Optimum Documentation, [2023?]. Disponível em: https://huggingface.co/docs/optimum/concept_guides/quantization. 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Char char="●"/>
            </a:pPr>
            <a:r>
              <a:rPr lang="pt-BR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HU, E. J. et al. LoRA: Low-Rank Adaptation of Large Language Models. arXiv, 2021. Disponível em: https://arxiv.org/abs/2106.09685.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7"/>
          <p:cNvSpPr txBox="1"/>
          <p:nvPr/>
        </p:nvSpPr>
        <p:spPr>
          <a:xfrm>
            <a:off x="4644008" y="836712"/>
            <a:ext cx="619268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Obrigado</a:t>
            </a:r>
            <a:endParaRPr b="1" i="0" sz="4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751513" y="1986453"/>
            <a:ext cx="378092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UDESC – Universidade do Estado de Santa Catarina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Thiago Brandenburg</a:t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thiago.brandenburg@edu.udesc.br</a:t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38" name="Google Shape;438;p17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2016-08-30T17:34:40Z</dcterms:created>
  <dc:creator>Gabriela Colebrusco Peres</dc:creator>
</cp:coreProperties>
</file>