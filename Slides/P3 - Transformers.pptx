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17">
          <p15:clr>
            <a:srgbClr val="A4A3A4"/>
          </p15:clr>
        </p15:guide>
        <p15:guide id="2" pos="657">
          <p15:clr>
            <a:srgbClr val="A4A3A4"/>
          </p15:clr>
        </p15:guide>
      </p15:sldGuideLst>
    </p:ext>
    <p:ext uri="GoogleSlidesCustomDataVersion2">
      <go:slidesCustomData xmlns:go="http://customooxmlschemas.google.com/" r:id="rId61" roundtripDataSignature="AMtx7mjySzDr9BkMA/cmxBS3eLsvtyf7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17" orient="horz"/>
        <p:guide pos="6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14029bf8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614029bf89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85e07e0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685e07e0e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1cd369e67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61cd369e67_1_1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6c426947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66c426947b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6c426947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66c426947b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6c426947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66c426947b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6c426947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66c426947b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6c426947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66c426947b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6c426947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66c426947b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6c426947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66c426947b_0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6c426947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66c426947b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6c426947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66c426947b_0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6c426947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66c426947b_0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6c426947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66c426947b_0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6c426947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66c426947b_0_1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6c426947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66c426947b_0_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6c426947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66c426947b_0_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6c426947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66c426947b_0_1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6c426947b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66c426947b_0_2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6c426947b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66c426947b_0_2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6c426947b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66c426947b_0_2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6c426947b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366c426947b_0_2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6c426947b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66c426947b_0_2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6c426947b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66c426947b_0_2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6c426947b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66c426947b_0_3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6c426947b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66c426947b_0_3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6c426947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66c426947b_0_3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6c426947b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66c426947b_0_3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670c0819a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g3670c0819ab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6c426947b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66c426947b_0_3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6c426947b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g366c426947b_0_3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6c426947b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g366c426947b_0_4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6c426947b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g366c426947b_0_4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66c426947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66c426947b_0_4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6c426947b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g366c426947b_0_4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66c426947b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g366c426947b_0_5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66c426947b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366c426947b_0_5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6c426947b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66c426947b_0_5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66c426947b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g366c426947b_0_5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66c426947b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g366c426947b_0_5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66c426947b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66c426947b_0_6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66c426947b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66c426947b_0_6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66c426947b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g366c426947b_0_6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66c426947b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g366c426947b_0_6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670dd465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g3670dd46536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670dd4653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3670dd46536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670dd4653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670dd46536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66c426947b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2" name="Google Shape;612;g366c426947b_0_6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6c426947b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5" name="Google Shape;625;g366c426947b_0_6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670dd4653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670dd46536_0_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670c0819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g3670c0819ab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685e07e0e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g3685e07e0e1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7" name="Google Shape;67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hyperlink" Target="https://huggingface.co/spaces/hesamation/primer-llm-embedding?section=what_are_embeddings?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hyperlink" Target="http://drive.google.com/file/d/1XfVtsElx7v_-IZdqaux3w3CL5dw3iafS/view" TargetMode="External"/><Relationship Id="rId6" Type="http://schemas.openxmlformats.org/officeDocument/2006/relationships/image" Target="../media/image1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hyperlink" Target="http://drive.google.com/file/d/1_PdgXTRsu6cxMkzsy4WawKBBehcK7rsS/view" TargetMode="External"/><Relationship Id="rId6" Type="http://schemas.openxmlformats.org/officeDocument/2006/relationships/image" Target="../media/image1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hyperlink" Target="https://arxiv.org/pdf/1706.03762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3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3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7006" y="5708679"/>
            <a:ext cx="2195698" cy="7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4751349" y="4820155"/>
            <a:ext cx="406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Thiago Brandenburg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2025/1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052550" y="906950"/>
            <a:ext cx="47601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Inteligência Artificial Generativa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Parte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1" i="0" lang="pt-BR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Generative Pre-trained</a:t>
            </a:r>
            <a:endParaRPr b="1" sz="3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</a:t>
            </a:r>
            <a:endParaRPr b="1" sz="3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23653"/>
          <a:stretch/>
        </p:blipFill>
        <p:spPr>
          <a:xfrm flipH="1" rot="10800000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92210"/>
          <a:stretch/>
        </p:blipFill>
        <p:spPr>
          <a:xfrm flipH="1">
            <a:off x="3779912" y="0"/>
            <a:ext cx="5904657" cy="90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14029bf89_0_27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8" name="Google Shape;98;g3614029bf89_0_27"/>
          <p:cNvSpPr txBox="1"/>
          <p:nvPr/>
        </p:nvSpPr>
        <p:spPr>
          <a:xfrm>
            <a:off x="116725" y="930750"/>
            <a:ext cx="34761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PT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é </a:t>
            </a:r>
            <a:r>
              <a:rPr b="1" i="0" lang="pt-BR" sz="1800" u="none" cap="none" strike="noStrike">
                <a:solidFill>
                  <a:srgbClr val="980000"/>
                </a:solidFill>
                <a:latin typeface="Verdana"/>
                <a:ea typeface="Verdana"/>
                <a:cs typeface="Verdana"/>
                <a:sym typeface="Verdana"/>
              </a:rPr>
              <a:t>autoregressivo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base de dados de pré treino é estruturada utilizando </a:t>
            </a: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janelas deslizantes.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saída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 modelo é a </a:t>
            </a: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probabilidade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 cada palavra do vocabulário 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função de perda é a </a:t>
            </a: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entropia-cruzada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das probabilidades.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tokenização recursiva em pares.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(Byte-Pair </a:t>
            </a: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Encoding)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9" name="Google Shape;99;g3614029bf89_0_2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g3614029bf89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614029bf89_0_27"/>
          <p:cNvPicPr preferRelativeResize="0"/>
          <p:nvPr/>
        </p:nvPicPr>
        <p:blipFill rotWithShape="1">
          <a:blip r:embed="rId4">
            <a:alphaModFix/>
          </a:blip>
          <a:srcRect b="0" l="2260" r="-2258" t="0"/>
          <a:stretch/>
        </p:blipFill>
        <p:spPr>
          <a:xfrm>
            <a:off x="3762863" y="836700"/>
            <a:ext cx="4762374" cy="30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614029bf89_0_27"/>
          <p:cNvSpPr txBox="1"/>
          <p:nvPr/>
        </p:nvSpPr>
        <p:spPr>
          <a:xfrm>
            <a:off x="3673550" y="3906150"/>
            <a:ext cx="970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“O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rato roeu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a”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614029bf89_0_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4050" y="4353051"/>
            <a:ext cx="3000000" cy="20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614029bf89_0_27"/>
          <p:cNvSpPr txBox="1"/>
          <p:nvPr/>
        </p:nvSpPr>
        <p:spPr>
          <a:xfrm>
            <a:off x="7601050" y="3906150"/>
            <a:ext cx="1542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“O” → 1%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“rato”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“roeu” → 3%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“a” → 10%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“roupa” → 60%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“do” </a:t>
            </a:r>
            <a:r>
              <a:rPr lang="pt-BR">
                <a:solidFill>
                  <a:schemeClr val="dk1"/>
                </a:solidFill>
              </a:rPr>
              <a:t>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“rei” </a:t>
            </a:r>
            <a:r>
              <a:rPr lang="pt-BR">
                <a:solidFill>
                  <a:schemeClr val="dk1"/>
                </a:solidFill>
              </a:rPr>
              <a:t>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“de” </a:t>
            </a:r>
            <a:r>
              <a:rPr lang="pt-BR">
                <a:solidFill>
                  <a:schemeClr val="dk1"/>
                </a:solidFill>
              </a:rPr>
              <a:t>→ 7%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“roma” 4%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sum(y) = 1</a:t>
            </a:r>
            <a:r>
              <a:rPr lang="pt-BR">
                <a:solidFill>
                  <a:schemeClr val="dk1"/>
                </a:solidFill>
              </a:rPr>
              <a:t>00%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85e07e0e1_0_0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Questões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0" name="Google Shape;110;g3685e07e0e1_0_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g3685e07e0e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685e07e0e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32425"/>
            <a:ext cx="857250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685e07e0e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875" y="3841225"/>
            <a:ext cx="859155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1cd369e67_1_141"/>
          <p:cNvSpPr txBox="1"/>
          <p:nvPr/>
        </p:nvSpPr>
        <p:spPr>
          <a:xfrm>
            <a:off x="393549" y="333523"/>
            <a:ext cx="619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Índice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g361cd369e67_1_141"/>
          <p:cNvSpPr txBox="1"/>
          <p:nvPr/>
        </p:nvSpPr>
        <p:spPr>
          <a:xfrm>
            <a:off x="286900" y="1017875"/>
            <a:ext cx="6049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1" i="0" lang="pt-BR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Inputs e Outputs (IO):</a:t>
            </a:r>
            <a:endParaRPr b="1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Dados de texto.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Autoregressão.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Amostragem por janela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Camada de Entrada: janela de tokens.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Camada de Saída: Função de densidade de probabilidade e verossimilhança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Tokenização:</a:t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 startAt="2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Algoritmo Byte-Pair tokenization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rabicPeriod"/>
            </a:pPr>
            <a:r>
              <a:rPr b="1" i="0" lang="pt-BR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Embeddings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 startAt="2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arquitetura Transformer.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romanL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 de Tokenização.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romanL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de Posição.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romanL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contextuais.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0" name="Google Shape;120;g361cd369e67_1_141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g361cd369e67_1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6c426947b_0_6"/>
          <p:cNvSpPr txBox="1"/>
          <p:nvPr/>
        </p:nvSpPr>
        <p:spPr>
          <a:xfrm>
            <a:off x="393550" y="333525"/>
            <a:ext cx="844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Embeddings: Revisão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" name="Google Shape;127;g366c426947b_0_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366c426947b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66c426947b_0_6"/>
          <p:cNvSpPr txBox="1"/>
          <p:nvPr/>
        </p:nvSpPr>
        <p:spPr>
          <a:xfrm>
            <a:off x="0" y="980025"/>
            <a:ext cx="501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que são embeddings?</a:t>
            </a:r>
            <a:endParaRPr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6c426947b_0_15"/>
          <p:cNvSpPr txBox="1"/>
          <p:nvPr/>
        </p:nvSpPr>
        <p:spPr>
          <a:xfrm>
            <a:off x="393550" y="333525"/>
            <a:ext cx="844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Embeddings: Revisão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" name="Google Shape;135;g366c426947b_0_1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g366c426947b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66c426947b_0_15"/>
          <p:cNvSpPr txBox="1"/>
          <p:nvPr/>
        </p:nvSpPr>
        <p:spPr>
          <a:xfrm>
            <a:off x="0" y="980025"/>
            <a:ext cx="50199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que são embeddings?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Representação </a:t>
            </a:r>
            <a:r>
              <a:rPr b="1" lang="pt-BR" sz="1800">
                <a:highlight>
                  <a:srgbClr val="FFFFFF"/>
                </a:highlight>
              </a:rPr>
              <a:t>vetorial </a:t>
            </a:r>
            <a:r>
              <a:rPr lang="pt-BR" sz="1800">
                <a:highlight>
                  <a:srgbClr val="FFFFFF"/>
                </a:highlight>
              </a:rPr>
              <a:t>dos tokens em um </a:t>
            </a:r>
            <a:r>
              <a:rPr b="1" lang="pt-BR" sz="1800">
                <a:highlight>
                  <a:srgbClr val="FFFFFF"/>
                </a:highlight>
              </a:rPr>
              <a:t>espaço latente</a:t>
            </a:r>
            <a:r>
              <a:rPr lang="pt-BR" sz="1800">
                <a:highlight>
                  <a:srgbClr val="FFFFFF"/>
                </a:highlight>
              </a:rPr>
              <a:t> de </a:t>
            </a:r>
            <a:r>
              <a:rPr b="1" lang="pt-BR" sz="1800">
                <a:highlight>
                  <a:srgbClr val="FFFFFF"/>
                </a:highlight>
              </a:rPr>
              <a:t>menor dimensionalidade que o de tokens.</a:t>
            </a:r>
            <a:endParaRPr b="1"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Posicionamento por </a:t>
            </a:r>
            <a:r>
              <a:rPr lang="pt-BR" sz="1800">
                <a:highlight>
                  <a:srgbClr val="FFFFFF"/>
                </a:highlight>
              </a:rPr>
              <a:t>conceito</a:t>
            </a:r>
            <a:r>
              <a:rPr lang="pt-BR" sz="1800">
                <a:highlight>
                  <a:srgbClr val="FFFFFF"/>
                </a:highlight>
              </a:rPr>
              <a:t>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Semântica 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Contexto.</a:t>
            </a:r>
            <a:endParaRPr b="1" sz="1800">
              <a:highlight>
                <a:srgbClr val="FFFFFF"/>
              </a:highlight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Distância por similaridade.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Arquitetura Encoder/Decoder: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Encoder: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codifica do espaço de tokens para o espaço vetorial.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Decoder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: decodifica do espaço latente para o espaço de tokens.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38" name="Google Shape;138;g366c426947b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9911" y="992799"/>
            <a:ext cx="4135491" cy="26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66c426947b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3813" y="3658275"/>
            <a:ext cx="3847665" cy="266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6c426947b_0_34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g366c426947b_0_34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g366c426947b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66c426947b_0_34"/>
          <p:cNvSpPr txBox="1"/>
          <p:nvPr/>
        </p:nvSpPr>
        <p:spPr>
          <a:xfrm>
            <a:off x="0" y="980025"/>
            <a:ext cx="5072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Para entender embeddings dentro de uma Transformer, vamos analisar o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fluxograma da arquitetura.</a:t>
            </a:r>
            <a:endParaRPr b="1"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6c426947b_0_5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3" name="Google Shape;153;g366c426947b_0_5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g366c426947b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66c426947b_0_58"/>
          <p:cNvSpPr txBox="1"/>
          <p:nvPr/>
        </p:nvSpPr>
        <p:spPr>
          <a:xfrm>
            <a:off x="0" y="980025"/>
            <a:ext cx="507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Para entender embeddings dentro de uma Transformer, vamos analisar o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fluxograma da arquitetura.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Confusa?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56" name="Google Shape;156;g366c426947b_0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500" y="1099938"/>
            <a:ext cx="3803460" cy="55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6c426947b_0_6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2" name="Google Shape;162;g366c426947b_0_6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g366c426947b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66c426947b_0_66"/>
          <p:cNvSpPr txBox="1"/>
          <p:nvPr/>
        </p:nvSpPr>
        <p:spPr>
          <a:xfrm>
            <a:off x="0" y="980025"/>
            <a:ext cx="5072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Para entender embeddings dentro de uma Transformer, vamos analisar o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fluxograma da arquitetura.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Confusa?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 arquitetura  transformer original proposta em 2017 ser confusa pois era um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modelo de tradução.</a:t>
            </a:r>
            <a:endParaRPr b="1" sz="1800">
              <a:highlight>
                <a:srgbClr val="FFFFFF"/>
              </a:highlight>
            </a:endParaRPr>
          </a:p>
        </p:txBody>
      </p:sp>
      <p:pic>
        <p:nvPicPr>
          <p:cNvPr id="165" name="Google Shape;165;g366c426947b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500" y="1099938"/>
            <a:ext cx="3803460" cy="55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6c426947b_0_42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1" name="Google Shape;171;g366c426947b_0_42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66c426947b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66c426947b_0_42"/>
          <p:cNvSpPr txBox="1"/>
          <p:nvPr/>
        </p:nvSpPr>
        <p:spPr>
          <a:xfrm>
            <a:off x="0" y="980025"/>
            <a:ext cx="5072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Para entender embeddings dentro de uma Transformer, vamos analisar o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fluxograma da arquitetura.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Confusa?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A arquitetura  transformer original proposta em 2017 ser confusa pois era um </a:t>
            </a:r>
            <a:r>
              <a:rPr b="1" lang="pt-BR" sz="1800">
                <a:highlight>
                  <a:srgbClr val="FFFFFF"/>
                </a:highlight>
              </a:rPr>
              <a:t>modelo de tradução.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solidFill>
                  <a:srgbClr val="FF0000"/>
                </a:solidFill>
                <a:highlight>
                  <a:srgbClr val="FFFFFF"/>
                </a:highlight>
              </a:rPr>
              <a:t>Encoder </a:t>
            </a:r>
            <a:r>
              <a:rPr lang="pt-BR" sz="1800">
                <a:highlight>
                  <a:srgbClr val="FFFFFF"/>
                </a:highlight>
              </a:rPr>
              <a:t>passa </a:t>
            </a:r>
            <a:r>
              <a:rPr lang="pt-BR" sz="1800">
                <a:highlight>
                  <a:srgbClr val="FFFFFF"/>
                </a:highlight>
              </a:rPr>
              <a:t>a </a:t>
            </a:r>
            <a:r>
              <a:rPr b="1" lang="pt-BR" sz="1800">
                <a:highlight>
                  <a:srgbClr val="FFFFFF"/>
                </a:highlight>
              </a:rPr>
              <a:t>língua de origem</a:t>
            </a:r>
            <a:r>
              <a:rPr lang="pt-BR" sz="1800">
                <a:highlight>
                  <a:srgbClr val="FFFFFF"/>
                </a:highlight>
              </a:rPr>
              <a:t> para o espaço latente da língua destino.</a:t>
            </a:r>
            <a:endParaRPr b="1" sz="1800">
              <a:highlight>
                <a:srgbClr val="FFFFFF"/>
              </a:highlight>
            </a:endParaRPr>
          </a:p>
        </p:txBody>
      </p:sp>
      <p:pic>
        <p:nvPicPr>
          <p:cNvPr id="174" name="Google Shape;174;g366c426947b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500" y="1099938"/>
            <a:ext cx="3803460" cy="55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66c426947b_0_42"/>
          <p:cNvSpPr/>
          <p:nvPr/>
        </p:nvSpPr>
        <p:spPr>
          <a:xfrm>
            <a:off x="5346925" y="3028625"/>
            <a:ext cx="1672500" cy="3644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6c426947b_0_50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1" name="Google Shape;181;g366c426947b_0_5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66c426947b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66c426947b_0_50"/>
          <p:cNvSpPr txBox="1"/>
          <p:nvPr/>
        </p:nvSpPr>
        <p:spPr>
          <a:xfrm>
            <a:off x="0" y="980025"/>
            <a:ext cx="5072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Para entender embeddings dentro de uma Transformer, vamos analisar o </a:t>
            </a:r>
            <a:r>
              <a:rPr b="1" lang="pt-BR" sz="1800">
                <a:highlight>
                  <a:srgbClr val="FFFFFF"/>
                </a:highlight>
              </a:rPr>
              <a:t>fluxograma da </a:t>
            </a:r>
            <a:r>
              <a:rPr b="1" lang="pt-BR" sz="1800">
                <a:highlight>
                  <a:srgbClr val="FFFFFF"/>
                </a:highlight>
              </a:rPr>
              <a:t>arquitetura.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Confusa?</a:t>
            </a:r>
            <a:endParaRPr b="1"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 arquitetura  transformer original proposta em 2017 ser confusa pois era um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modelo de tradução.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Encoder </a:t>
            </a:r>
            <a:r>
              <a:rPr lang="pt-BR" sz="1800">
                <a:highlight>
                  <a:srgbClr val="FFFFFF"/>
                </a:highlight>
              </a:rPr>
              <a:t>passava a </a:t>
            </a:r>
            <a:r>
              <a:rPr b="1" lang="pt-BR" sz="1800">
                <a:highlight>
                  <a:srgbClr val="FFFFFF"/>
                </a:highlight>
              </a:rPr>
              <a:t>língua de origem</a:t>
            </a:r>
            <a:r>
              <a:rPr lang="pt-BR" sz="1800">
                <a:highlight>
                  <a:srgbClr val="FFFFFF"/>
                </a:highlight>
              </a:rPr>
              <a:t> para o espaço latente da língua destino.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solidFill>
                  <a:srgbClr val="FF0000"/>
                </a:solidFill>
                <a:highlight>
                  <a:srgbClr val="FFFFFF"/>
                </a:highlight>
              </a:rPr>
              <a:t>Decoder </a:t>
            </a:r>
            <a:r>
              <a:rPr lang="pt-BR" sz="1800">
                <a:highlight>
                  <a:srgbClr val="FFFFFF"/>
                </a:highlight>
              </a:rPr>
              <a:t>previa a próxima palavra da </a:t>
            </a:r>
            <a:r>
              <a:rPr b="1" lang="pt-BR" sz="1800">
                <a:highlight>
                  <a:srgbClr val="FFFFFF"/>
                </a:highlight>
              </a:rPr>
              <a:t>língua destino</a:t>
            </a:r>
            <a:endParaRPr b="1" sz="1800">
              <a:highlight>
                <a:srgbClr val="FFFFFF"/>
              </a:highlight>
            </a:endParaRPr>
          </a:p>
        </p:txBody>
      </p:sp>
      <p:pic>
        <p:nvPicPr>
          <p:cNvPr id="184" name="Google Shape;184;g366c426947b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500" y="1099938"/>
            <a:ext cx="3803460" cy="55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66c426947b_0_50"/>
          <p:cNvSpPr/>
          <p:nvPr/>
        </p:nvSpPr>
        <p:spPr>
          <a:xfrm>
            <a:off x="7090500" y="1172050"/>
            <a:ext cx="1905000" cy="5501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6c426947b_0_7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g366c426947b_0_7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366c426947b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66c426947b_0_76"/>
          <p:cNvSpPr txBox="1"/>
          <p:nvPr/>
        </p:nvSpPr>
        <p:spPr>
          <a:xfrm>
            <a:off x="0" y="980025"/>
            <a:ext cx="507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Para prever a próxima palavra, não precisamos de um encoder de transformer.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194" name="Google Shape;194;g366c426947b_0_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500" y="1099938"/>
            <a:ext cx="3803460" cy="55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66c426947b_0_76"/>
          <p:cNvSpPr/>
          <p:nvPr/>
        </p:nvSpPr>
        <p:spPr>
          <a:xfrm>
            <a:off x="5572925" y="3629200"/>
            <a:ext cx="1469100" cy="15498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6c426947b_0_8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Decoder-Only Transformer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1" name="Google Shape;201;g366c426947b_0_8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g366c426947b_0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66c426947b_0_86"/>
          <p:cNvSpPr txBox="1"/>
          <p:nvPr/>
        </p:nvSpPr>
        <p:spPr>
          <a:xfrm>
            <a:off x="0" y="980025"/>
            <a:ext cx="5072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Para prever a próxima palavra, não precisamos de um encoder de transformer.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No ano seguinte (2018), foi proposto a arquitetura GPT, que é referida como </a:t>
            </a:r>
            <a:r>
              <a:rPr b="1" lang="pt-BR" sz="1800">
                <a:highlight>
                  <a:srgbClr val="FFFFFF"/>
                </a:highlight>
              </a:rPr>
              <a:t>Decoder-Only Transformer</a:t>
            </a:r>
            <a:r>
              <a:rPr lang="pt-BR" sz="1800">
                <a:highlight>
                  <a:srgbClr val="FFFFFF"/>
                </a:highlight>
              </a:rPr>
              <a:t>, própria para a geração de texto.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Bem mais amigável.</a:t>
            </a:r>
            <a:endParaRPr sz="1800">
              <a:highlight>
                <a:srgbClr val="FFFFFF"/>
              </a:highlight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 </a:t>
            </a:r>
            <a:r>
              <a:rPr b="1" lang="pt-BR" sz="1800">
                <a:solidFill>
                  <a:srgbClr val="FF0000"/>
                </a:solidFill>
                <a:highlight>
                  <a:schemeClr val="lt1"/>
                </a:highlight>
              </a:rPr>
              <a:t>nomenclatura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encoder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decoder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pode soar um pouco familiar…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04" name="Google Shape;204;g366c426947b_0_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150" y="1451900"/>
            <a:ext cx="2486025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6c426947b_0_9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0" name="Google Shape;210;g366c426947b_0_9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66c426947b_0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66c426947b_0_96"/>
          <p:cNvSpPr txBox="1"/>
          <p:nvPr/>
        </p:nvSpPr>
        <p:spPr>
          <a:xfrm>
            <a:off x="286900" y="980025"/>
            <a:ext cx="57381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Um Transformer </a:t>
            </a:r>
            <a:r>
              <a:rPr b="1" lang="pt-BR" sz="1800">
                <a:highlight>
                  <a:srgbClr val="FFFFFF"/>
                </a:highlight>
              </a:rPr>
              <a:t>ajusta a posição</a:t>
            </a:r>
            <a:r>
              <a:rPr lang="pt-BR" sz="1800">
                <a:highlight>
                  <a:srgbClr val="FFFFFF"/>
                </a:highlight>
              </a:rPr>
              <a:t> dos </a:t>
            </a:r>
            <a:r>
              <a:rPr lang="pt-BR" sz="1800">
                <a:highlight>
                  <a:srgbClr val="FFFFFF"/>
                </a:highlight>
              </a:rPr>
              <a:t>embeddings </a:t>
            </a:r>
            <a:r>
              <a:rPr lang="pt-BR" sz="1800">
                <a:highlight>
                  <a:srgbClr val="FFFFFF"/>
                </a:highlight>
              </a:rPr>
              <a:t>com o contexto por meio de diferentes encoders.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Sequencialmente, temos embeddings com diferentes funções: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pt-BR" sz="1800">
                <a:highlight>
                  <a:srgbClr val="FFFFFF"/>
                </a:highlight>
              </a:rPr>
              <a:t>Text embedding.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pt-BR" sz="1800">
                <a:highlight>
                  <a:srgbClr val="FFFFFF"/>
                </a:highlight>
              </a:rPr>
              <a:t>Positional embedding.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pt-BR" sz="1800">
                <a:highlight>
                  <a:srgbClr val="FFFFFF"/>
                </a:highlight>
              </a:rPr>
              <a:t>Contextual embedding.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Transformer Block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Percorremos</a:t>
            </a:r>
            <a:r>
              <a:rPr lang="pt-BR" sz="1800">
                <a:highlight>
                  <a:srgbClr val="FFFFFF"/>
                </a:highlight>
              </a:rPr>
              <a:t> a arquitetura em ordem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13" name="Google Shape;213;g366c426947b_0_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150" y="1451900"/>
            <a:ext cx="2486025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6c426947b_0_154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9" name="Google Shape;219;g366c426947b_0_154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66c426947b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66c426947b_0_154"/>
          <p:cNvSpPr txBox="1"/>
          <p:nvPr/>
        </p:nvSpPr>
        <p:spPr>
          <a:xfrm>
            <a:off x="286900" y="2921100"/>
            <a:ext cx="5738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Text embedding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Positional embedding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Transformer Block.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22" name="Google Shape;222;g366c426947b_0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150" y="1451900"/>
            <a:ext cx="2486025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6c426947b_0_163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8" name="Google Shape;228;g366c426947b_0_16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g366c426947b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66c426947b_0_163"/>
          <p:cNvSpPr txBox="1"/>
          <p:nvPr/>
        </p:nvSpPr>
        <p:spPr>
          <a:xfrm>
            <a:off x="287025" y="2921100"/>
            <a:ext cx="5738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pt-BR" sz="1800">
                <a:highlight>
                  <a:srgbClr val="FFFFFF"/>
                </a:highlight>
              </a:rPr>
              <a:t>Text embedding</a:t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Positional embedding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Transformer Block.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31" name="Google Shape;231;g366c426947b_0_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150" y="1451900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66c426947b_0_163"/>
          <p:cNvSpPr/>
          <p:nvPr/>
        </p:nvSpPr>
        <p:spPr>
          <a:xfrm>
            <a:off x="6460850" y="5566450"/>
            <a:ext cx="1766700" cy="56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6c426947b_0_104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Text embeddings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8" name="Google Shape;238;g366c426947b_0_104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g366c426947b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66c426947b_0_104"/>
          <p:cNvSpPr txBox="1"/>
          <p:nvPr/>
        </p:nvSpPr>
        <p:spPr>
          <a:xfrm>
            <a:off x="286900" y="980025"/>
            <a:ext cx="4704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highlight>
                  <a:srgbClr val="FFFFFF"/>
                </a:highlight>
              </a:rPr>
              <a:t>Os embedding de texto são o que estudamos até agora: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Treinados com ANN Encoder/Decoder (gargalo)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Passam tokens de </a:t>
            </a:r>
            <a:r>
              <a:rPr lang="pt-BR" sz="1800">
                <a:highlight>
                  <a:srgbClr val="FFFFFF"/>
                </a:highlight>
              </a:rPr>
              <a:t>índices</a:t>
            </a:r>
            <a:r>
              <a:rPr lang="pt-BR" sz="1800">
                <a:highlight>
                  <a:srgbClr val="FFFFFF"/>
                </a:highlight>
              </a:rPr>
              <a:t> para um vetor n-dimensional.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GPT-1: 768 dimensões.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GPT-3: 12228 dimensões.</a:t>
            </a:r>
            <a:endParaRPr sz="1800">
              <a:highlight>
                <a:srgbClr val="FFFFFF"/>
              </a:highlight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Entramos no </a:t>
            </a:r>
            <a:r>
              <a:rPr b="1" lang="pt-BR" sz="18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espaço latente</a:t>
            </a:r>
            <a:r>
              <a:rPr b="1" lang="pt-BR" sz="1800">
                <a:highlight>
                  <a:srgbClr val="FFFFFF"/>
                </a:highlight>
              </a:rPr>
              <a:t>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Posições por </a:t>
            </a:r>
            <a:r>
              <a:rPr lang="pt-BR" sz="1800">
                <a:highlight>
                  <a:srgbClr val="FFFFFF"/>
                </a:highlight>
              </a:rPr>
              <a:t>semântica</a:t>
            </a:r>
            <a:r>
              <a:rPr lang="pt-BR" sz="1800">
                <a:highlight>
                  <a:srgbClr val="FFFFFF"/>
                </a:highlight>
              </a:rPr>
              <a:t>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Distâncias == similaridade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41" name="Google Shape;241;g366c426947b_0_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7750" y="1882287"/>
            <a:ext cx="4336199" cy="309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66c426947b_0_104"/>
          <p:cNvSpPr txBox="1"/>
          <p:nvPr/>
        </p:nvSpPr>
        <p:spPr>
          <a:xfrm>
            <a:off x="5475850" y="4866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Amostra do </a:t>
            </a:r>
            <a:r>
              <a:rPr lang="pt-BR">
                <a:solidFill>
                  <a:schemeClr val="dk1"/>
                </a:solidFill>
              </a:rPr>
              <a:t>Word2Vec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3" name="Google Shape;243;g366c426947b_0_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66c426947b_0_104"/>
          <p:cNvSpPr/>
          <p:nvPr/>
        </p:nvSpPr>
        <p:spPr>
          <a:xfrm>
            <a:off x="8359118" y="6616651"/>
            <a:ext cx="750600" cy="239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6c426947b_0_172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Text embeddings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" name="Google Shape;250;g366c426947b_0_172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g366c426947b_0_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66c426947b_0_172"/>
          <p:cNvSpPr txBox="1"/>
          <p:nvPr/>
        </p:nvSpPr>
        <p:spPr>
          <a:xfrm>
            <a:off x="286900" y="980025"/>
            <a:ext cx="4801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highlight>
                  <a:srgbClr val="FFFFFF"/>
                </a:highlight>
              </a:rPr>
              <a:t>Em um LLM, o encoder é treinado junto com o resto da ANN por meio de uma camada de embedding: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Índice passa por um </a:t>
            </a:r>
            <a:r>
              <a:rPr b="1" lang="pt-BR" sz="1800">
                <a:highlight>
                  <a:srgbClr val="FFFFFF"/>
                </a:highlight>
              </a:rPr>
              <a:t>one-hot encoding </a:t>
            </a:r>
            <a:r>
              <a:rPr lang="pt-BR" sz="1800">
                <a:highlight>
                  <a:srgbClr val="FFFFFF"/>
                </a:highlight>
              </a:rPr>
              <a:t>otimizado com uma tabela de consulta. (</a:t>
            </a:r>
            <a:r>
              <a:rPr b="1" lang="pt-BR" sz="1800">
                <a:solidFill>
                  <a:srgbClr val="FF0000"/>
                </a:solidFill>
                <a:highlight>
                  <a:srgbClr val="FFFFFF"/>
                </a:highlight>
              </a:rPr>
              <a:t>Tamanho?</a:t>
            </a:r>
            <a:r>
              <a:rPr lang="pt-BR" sz="1800">
                <a:highlight>
                  <a:srgbClr val="FFFFFF"/>
                </a:highlight>
              </a:rPr>
              <a:t>)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Vetor codificado se conecta com uma camada densa.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r>
              <a:rPr b="1" lang="pt-BR" sz="1800">
                <a:solidFill>
                  <a:srgbClr val="FF0000"/>
                </a:solidFill>
                <a:highlight>
                  <a:schemeClr val="lt1"/>
                </a:highlight>
              </a:rPr>
              <a:t>Tamanho?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53" name="Google Shape;253;g366c426947b_0_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4200" y="2295270"/>
            <a:ext cx="4179875" cy="272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66c426947b_0_1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66c426947b_0_172"/>
          <p:cNvSpPr/>
          <p:nvPr/>
        </p:nvSpPr>
        <p:spPr>
          <a:xfrm>
            <a:off x="8359118" y="6616651"/>
            <a:ext cx="750600" cy="239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6c426947b_0_18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1" name="Google Shape;261;g366c426947b_0_18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g366c426947b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66c426947b_0_186"/>
          <p:cNvSpPr txBox="1"/>
          <p:nvPr/>
        </p:nvSpPr>
        <p:spPr>
          <a:xfrm>
            <a:off x="286900" y="2921100"/>
            <a:ext cx="5738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Text embedding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pt-BR" sz="1800">
                <a:highlight>
                  <a:srgbClr val="FFFFFF"/>
                </a:highlight>
              </a:rPr>
              <a:t>Positional embedding</a:t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Transformer Block.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64" name="Google Shape;264;g366c426947b_0_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150" y="1451900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66c426947b_0_186"/>
          <p:cNvSpPr/>
          <p:nvPr/>
        </p:nvSpPr>
        <p:spPr>
          <a:xfrm>
            <a:off x="6460850" y="5566450"/>
            <a:ext cx="1766700" cy="56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6c426947b_0_201"/>
          <p:cNvSpPr txBox="1"/>
          <p:nvPr/>
        </p:nvSpPr>
        <p:spPr>
          <a:xfrm>
            <a:off x="393550" y="333525"/>
            <a:ext cx="875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Positional embeddings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1" name="Google Shape;271;g366c426947b_0_201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g366c426947b_0_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66c426947b_0_201"/>
          <p:cNvSpPr txBox="1"/>
          <p:nvPr/>
        </p:nvSpPr>
        <p:spPr>
          <a:xfrm>
            <a:off x="206175" y="1496200"/>
            <a:ext cx="34296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Embeddings de posição são </a:t>
            </a:r>
            <a:r>
              <a:rPr b="1" lang="pt-BR" sz="1800">
                <a:highlight>
                  <a:srgbClr val="FFFFFF"/>
                </a:highlight>
              </a:rPr>
              <a:t>funções </a:t>
            </a:r>
            <a:r>
              <a:rPr lang="pt-BR" sz="1800">
                <a:highlight>
                  <a:srgbClr val="FFFFFF"/>
                </a:highlight>
              </a:rPr>
              <a:t>aplicadas nos </a:t>
            </a:r>
            <a:r>
              <a:rPr lang="pt-BR" sz="1800">
                <a:highlight>
                  <a:srgbClr val="FFFFFF"/>
                </a:highlight>
              </a:rPr>
              <a:t>embeddings </a:t>
            </a:r>
            <a:r>
              <a:rPr lang="pt-BR" sz="1800">
                <a:highlight>
                  <a:srgbClr val="FFFFFF"/>
                </a:highlight>
              </a:rPr>
              <a:t>para </a:t>
            </a:r>
            <a:r>
              <a:rPr b="1" lang="pt-BR" sz="1800">
                <a:highlight>
                  <a:srgbClr val="FFFFFF"/>
                </a:highlight>
              </a:rPr>
              <a:t>c</a:t>
            </a:r>
            <a:r>
              <a:rPr b="1" lang="pt-BR" sz="1800">
                <a:highlight>
                  <a:srgbClr val="FFFFFF"/>
                </a:highlight>
              </a:rPr>
              <a:t>odificar a posição no contexto</a:t>
            </a:r>
            <a:r>
              <a:rPr b="1" lang="pt-BR" sz="1800">
                <a:highlight>
                  <a:srgbClr val="FFFFFF"/>
                </a:highlight>
              </a:rPr>
              <a:t> em seus valores.</a:t>
            </a:r>
            <a:endParaRPr b="1"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Essa função deve ser o mais </a:t>
            </a:r>
            <a:r>
              <a:rPr b="1" lang="pt-BR" sz="1800">
                <a:highlight>
                  <a:srgbClr val="FFFFFF"/>
                </a:highlight>
              </a:rPr>
              <a:t>simples possível </a:t>
            </a:r>
            <a:r>
              <a:rPr lang="pt-BR" sz="1800">
                <a:highlight>
                  <a:srgbClr val="FFFFFF"/>
                </a:highlight>
              </a:rPr>
              <a:t>para o modelo conseguir entender e separar sentido de posição.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Abordagem </a:t>
            </a:r>
            <a:r>
              <a:rPr b="1" lang="pt-BR" sz="1800">
                <a:highlight>
                  <a:srgbClr val="FFFFFF"/>
                </a:highlight>
              </a:rPr>
              <a:t>ingênua</a:t>
            </a:r>
            <a:r>
              <a:rPr b="1" lang="pt-BR" sz="1800">
                <a:highlight>
                  <a:srgbClr val="FFFFFF"/>
                </a:highlight>
              </a:rPr>
              <a:t>: </a:t>
            </a:r>
            <a:r>
              <a:rPr lang="pt-BR" sz="1800">
                <a:highlight>
                  <a:srgbClr val="FFFFFF"/>
                </a:highlight>
              </a:rPr>
              <a:t>somar a posição do token ao valor.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Problemas?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74" name="Google Shape;274;g366c426947b_0_2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66c426947b_0_201"/>
          <p:cNvSpPr/>
          <p:nvPr/>
        </p:nvSpPr>
        <p:spPr>
          <a:xfrm>
            <a:off x="8359118" y="6616651"/>
            <a:ext cx="750600" cy="239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g366c426947b_0_201" title="positional_embedding_1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4075" y="1722138"/>
            <a:ext cx="5255650" cy="295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66c426947b_0_211"/>
          <p:cNvSpPr txBox="1"/>
          <p:nvPr/>
        </p:nvSpPr>
        <p:spPr>
          <a:xfrm>
            <a:off x="393550" y="333525"/>
            <a:ext cx="875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Positional embeddings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2" name="Google Shape;282;g366c426947b_0_211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366c426947b_0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66c426947b_0_211"/>
          <p:cNvSpPr txBox="1"/>
          <p:nvPr/>
        </p:nvSpPr>
        <p:spPr>
          <a:xfrm>
            <a:off x="206175" y="1496200"/>
            <a:ext cx="30744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Na prática, o que melhor parece funcionar são funções </a:t>
            </a:r>
            <a:r>
              <a:rPr b="1" lang="pt-BR" sz="1800">
                <a:highlight>
                  <a:srgbClr val="FFFFFF"/>
                </a:highlight>
              </a:rPr>
              <a:t>seno e cosseno da posição.</a:t>
            </a:r>
            <a:endParaRPr b="1"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modelo consegue entender a posição por meio da frequência dentro do embedding.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Vantagens: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Variações baixas.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Normalizado.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Escalável.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85" name="Google Shape;285;g366c426947b_0_2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66c426947b_0_211"/>
          <p:cNvSpPr/>
          <p:nvPr/>
        </p:nvSpPr>
        <p:spPr>
          <a:xfrm>
            <a:off x="8359118" y="6616651"/>
            <a:ext cx="750600" cy="239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g366c426947b_0_211" title="positional_embedding_2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3775" y="1496200"/>
            <a:ext cx="5685950" cy="319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6c426947b_0_223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3" name="Google Shape;293;g366c426947b_0_22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g366c426947b_0_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66c426947b_0_223"/>
          <p:cNvSpPr txBox="1"/>
          <p:nvPr/>
        </p:nvSpPr>
        <p:spPr>
          <a:xfrm>
            <a:off x="286900" y="2921100"/>
            <a:ext cx="5738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Text embedding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>
                <a:highlight>
                  <a:srgbClr val="FFFFFF"/>
                </a:highlight>
              </a:rPr>
              <a:t>Positional embedding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pt-BR" sz="1800">
                <a:highlight>
                  <a:srgbClr val="FFFFFF"/>
                </a:highlight>
              </a:rPr>
              <a:t>Transformer Block.</a:t>
            </a:r>
            <a:endParaRPr b="1" sz="1800">
              <a:highlight>
                <a:srgbClr val="FFFFFF"/>
              </a:highlight>
            </a:endParaRPr>
          </a:p>
        </p:txBody>
      </p:sp>
      <p:pic>
        <p:nvPicPr>
          <p:cNvPr id="296" name="Google Shape;296;g366c426947b_0_2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150" y="1451900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66c426947b_0_223"/>
          <p:cNvSpPr/>
          <p:nvPr/>
        </p:nvSpPr>
        <p:spPr>
          <a:xfrm>
            <a:off x="6412425" y="2127800"/>
            <a:ext cx="1895700" cy="330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6c426947b_0_265"/>
          <p:cNvSpPr txBox="1"/>
          <p:nvPr/>
        </p:nvSpPr>
        <p:spPr>
          <a:xfrm>
            <a:off x="393550" y="333525"/>
            <a:ext cx="875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Atenção? Contexto?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3" name="Google Shape;303;g366c426947b_0_26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366c426947b_0_2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66c426947b_0_265"/>
          <p:cNvSpPr txBox="1"/>
          <p:nvPr/>
        </p:nvSpPr>
        <p:spPr>
          <a:xfrm>
            <a:off x="206175" y="1496200"/>
            <a:ext cx="6884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“Contexto é a inter-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relação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de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circunstâncias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que acompanham um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fato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ou uma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situação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.” (Dicionário Oxford)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Se coloque no lugar de um modelo generativo: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306" name="Google Shape;306;g366c426947b_0_2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66c426947b_0_265"/>
          <p:cNvSpPr/>
          <p:nvPr/>
        </p:nvSpPr>
        <p:spPr>
          <a:xfrm>
            <a:off x="8333575" y="5124325"/>
            <a:ext cx="810300" cy="147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6c426947b_0_275"/>
          <p:cNvSpPr txBox="1"/>
          <p:nvPr/>
        </p:nvSpPr>
        <p:spPr>
          <a:xfrm>
            <a:off x="393550" y="333525"/>
            <a:ext cx="875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Atenção? Contexto?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3" name="Google Shape;313;g366c426947b_0_27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g366c426947b_0_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66c426947b_0_275"/>
          <p:cNvSpPr txBox="1"/>
          <p:nvPr/>
        </p:nvSpPr>
        <p:spPr>
          <a:xfrm>
            <a:off x="206175" y="1496200"/>
            <a:ext cx="6884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“Contexto é a inter-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relação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de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circunstâncias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que acompanham um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fato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ou uma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situação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.” (Dicionário Oxford)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Se coloque no lugar de um modelo generativo: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Não temos “circunstâncias”, “fatos” ou “situações”.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Temos vetores e matrizes.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Precisamos adaptar o contexto com o que temos: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Como relacionamos vetores e matrizes?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316" name="Google Shape;316;g366c426947b_0_2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66c426947b_0_275"/>
          <p:cNvSpPr/>
          <p:nvPr/>
        </p:nvSpPr>
        <p:spPr>
          <a:xfrm>
            <a:off x="8333575" y="5124325"/>
            <a:ext cx="810300" cy="147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g366c426947b_0_2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6c426947b_0_285"/>
          <p:cNvSpPr txBox="1"/>
          <p:nvPr/>
        </p:nvSpPr>
        <p:spPr>
          <a:xfrm>
            <a:off x="393550" y="333525"/>
            <a:ext cx="875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Atenção? Contexto?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4" name="Google Shape;324;g366c426947b_0_28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g366c426947b_0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66c426947b_0_285"/>
          <p:cNvSpPr txBox="1"/>
          <p:nvPr/>
        </p:nvSpPr>
        <p:spPr>
          <a:xfrm>
            <a:off x="206175" y="1496200"/>
            <a:ext cx="6884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“Contexto é a inter-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relação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de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circunstâncias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que acompanham um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fato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ou uma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situação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.” (Dicionário Oxford)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Se coloque no lugar de um modelo generativo: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Não temos “circunstâncias”, “fatos” ou “situações”.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Temos vetores e matrizes.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Precisamos adaptar o contexto com o que temos: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Como relacionamos vetores e matrizes?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b="1" lang="pt-BR" sz="1800">
                <a:highlight>
                  <a:srgbClr val="FFFFFF"/>
                </a:highlight>
              </a:rPr>
              <a:t>Algebra</a:t>
            </a:r>
            <a:r>
              <a:rPr lang="pt-BR" sz="1800">
                <a:highlight>
                  <a:srgbClr val="FFFFFF"/>
                </a:highlight>
              </a:rPr>
              <a:t>!!!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327" name="Google Shape;327;g366c426947b_0_2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66c426947b_0_285"/>
          <p:cNvSpPr/>
          <p:nvPr/>
        </p:nvSpPr>
        <p:spPr>
          <a:xfrm>
            <a:off x="8333575" y="5124325"/>
            <a:ext cx="810300" cy="147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g366c426947b_0_2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6c426947b_0_307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Álgebra</a:t>
            </a:r>
            <a:endParaRPr b="1" sz="3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5" name="Google Shape;335;g366c426947b_0_30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g366c426947b_0_3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66c426947b_0_307"/>
          <p:cNvSpPr txBox="1"/>
          <p:nvPr/>
        </p:nvSpPr>
        <p:spPr>
          <a:xfrm>
            <a:off x="206175" y="1496200"/>
            <a:ext cx="8750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 principal pilar de modelos generativos é que é possível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realizar operações entre embeddings.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A maioria dessas operações não faz sentido para nós humanos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Contudo,  algumas são interpretáveis!!!!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38" name="Google Shape;338;g366c426947b_0_3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66c426947b_0_307"/>
          <p:cNvSpPr/>
          <p:nvPr/>
        </p:nvSpPr>
        <p:spPr>
          <a:xfrm>
            <a:off x="8333575" y="5124325"/>
            <a:ext cx="810300" cy="147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g366c426947b_0_3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6c426947b_0_319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Álgebra</a:t>
            </a:r>
            <a:endParaRPr b="1" sz="3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6" name="Google Shape;346;g366c426947b_0_31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g366c426947b_0_3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66c426947b_0_319"/>
          <p:cNvSpPr txBox="1"/>
          <p:nvPr/>
        </p:nvSpPr>
        <p:spPr>
          <a:xfrm>
            <a:off x="6148075" y="1243425"/>
            <a:ext cx="2995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Uma relação que é observada é a presença de uma dimensão que representa sexo.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 distância entre rei e rainha é próxima da distância entre homem e mulher, por exemplo.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49" name="Google Shape;349;g366c426947b_0_3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66c426947b_0_319"/>
          <p:cNvSpPr/>
          <p:nvPr/>
        </p:nvSpPr>
        <p:spPr>
          <a:xfrm>
            <a:off x="8333575" y="5124325"/>
            <a:ext cx="810300" cy="147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g366c426947b_0_3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366c426947b_0_3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900" y="1995400"/>
            <a:ext cx="5861176" cy="423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6c426947b_0_35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Álgebra</a:t>
            </a:r>
            <a:endParaRPr b="1" sz="3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8" name="Google Shape;358;g366c426947b_0_35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g366c426947b_0_3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66c426947b_0_356"/>
          <p:cNvSpPr txBox="1"/>
          <p:nvPr/>
        </p:nvSpPr>
        <p:spPr>
          <a:xfrm>
            <a:off x="6581850" y="1243425"/>
            <a:ext cx="2562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 mesmo acontece para Tio e Tia, por exemplo.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As distâncias aqui devem ser mais parecidas do que de rei e rainha.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61" name="Google Shape;361;g366c426947b_0_3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66c426947b_0_356"/>
          <p:cNvSpPr/>
          <p:nvPr/>
        </p:nvSpPr>
        <p:spPr>
          <a:xfrm>
            <a:off x="8333575" y="5124325"/>
            <a:ext cx="810300" cy="147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g366c426947b_0_3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66c426947b_0_3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900" y="1705125"/>
            <a:ext cx="6294953" cy="4604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6c426947b_0_330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Álgebra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0" name="Google Shape;370;g366c426947b_0_33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g366c426947b_0_3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66c426947b_0_3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66c426947b_0_330"/>
          <p:cNvSpPr/>
          <p:nvPr/>
        </p:nvSpPr>
        <p:spPr>
          <a:xfrm>
            <a:off x="8333575" y="5124325"/>
            <a:ext cx="810300" cy="147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g366c426947b_0_3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66c426947b_0_3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250" y="1820288"/>
            <a:ext cx="5979677" cy="372077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66c426947b_0_330"/>
          <p:cNvSpPr txBox="1"/>
          <p:nvPr/>
        </p:nvSpPr>
        <p:spPr>
          <a:xfrm>
            <a:off x="6581850" y="1243425"/>
            <a:ext cx="2562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Existem vários exemplos de como essas relações podem se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manifestar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670c0819ab_0_15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Álgebra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2" name="Google Shape;382;g3670c0819ab_0_1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g3670c0819ab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3670c0819ab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670c0819ab_0_15"/>
          <p:cNvSpPr/>
          <p:nvPr/>
        </p:nvSpPr>
        <p:spPr>
          <a:xfrm>
            <a:off x="8333575" y="5124325"/>
            <a:ext cx="810300" cy="147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g3670c0819ab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670c0819ab_0_15"/>
          <p:cNvSpPr txBox="1"/>
          <p:nvPr/>
        </p:nvSpPr>
        <p:spPr>
          <a:xfrm>
            <a:off x="6581850" y="1243425"/>
            <a:ext cx="2562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Existem vários exemplos de como essas relações podem se manifestar.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88" name="Google Shape;388;g3670c0819ab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900" y="1486913"/>
            <a:ext cx="6277052" cy="388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66c426947b_0_343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Álgebra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4" name="Google Shape;394;g366c426947b_0_34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g366c426947b_0_3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g366c426947b_0_3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66c426947b_0_343"/>
          <p:cNvSpPr/>
          <p:nvPr/>
        </p:nvSpPr>
        <p:spPr>
          <a:xfrm>
            <a:off x="8333575" y="5124325"/>
            <a:ext cx="810300" cy="147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g366c426947b_0_3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66c426947b_0_343"/>
          <p:cNvSpPr txBox="1"/>
          <p:nvPr/>
        </p:nvSpPr>
        <p:spPr>
          <a:xfrm>
            <a:off x="6753175" y="2417463"/>
            <a:ext cx="2390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Em modelos de imagem, essas relações podem ser observadas nos resultados.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00" name="Google Shape;400;g366c426947b_0_3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550" y="1921475"/>
            <a:ext cx="6503199" cy="25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66c426947b_0_393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6" name="Google Shape;406;g366c426947b_0_39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g366c426947b_0_3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66c426947b_0_3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66c426947b_0_393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g366c426947b_0_3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66c426947b_0_393"/>
          <p:cNvSpPr txBox="1"/>
          <p:nvPr/>
        </p:nvSpPr>
        <p:spPr>
          <a:xfrm>
            <a:off x="287025" y="1496200"/>
            <a:ext cx="8856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</a:t>
            </a:r>
            <a:r>
              <a:rPr lang="pt-BR" sz="2400">
                <a:highlight>
                  <a:schemeClr val="lt1"/>
                </a:highlight>
              </a:rPr>
              <a:t>inter-relação de circunstâncias que acompanham uma situação.</a:t>
            </a:r>
            <a:endParaRPr sz="2400"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Confirmarmos que é possível realizar operações matemáticas entre vetores.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Vamos tentar construir um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mecanismo de atenção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que adapte essa definição para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vetores de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embeddings.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66c426947b_0_407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7" name="Google Shape;417;g366c426947b_0_40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g366c426947b_0_4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66c426947b_0_4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366c426947b_0_4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66c426947b_0_407"/>
          <p:cNvSpPr txBox="1"/>
          <p:nvPr/>
        </p:nvSpPr>
        <p:spPr>
          <a:xfrm>
            <a:off x="287025" y="1496200"/>
            <a:ext cx="8856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: inter-relação de circunstâncias que acompanham uma situação.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Atenção(_)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 contexto é o nosso objetivo, portanto vamos defini-lo como uma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função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da definição. Vamos chamar de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atenção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Variáveis: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422" name="Google Shape;422;g366c426947b_0_407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66c426947b_0_453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8" name="Google Shape;428;g366c426947b_0_45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g366c426947b_0_4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366c426947b_0_4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366c426947b_0_4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66c426947b_0_453"/>
          <p:cNvSpPr txBox="1"/>
          <p:nvPr/>
        </p:nvSpPr>
        <p:spPr>
          <a:xfrm>
            <a:off x="287025" y="1496200"/>
            <a:ext cx="8856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inter-relação de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circunstâncias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que acompanham uma situação.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,E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Também vamos assumir que as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circunstâncias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são dois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embeddings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, supomos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roupa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e rei (E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pt-BR"/>
              <a:t> </a:t>
            </a:r>
            <a:r>
              <a:rPr lang="pt-BR" sz="1800"/>
              <a:t>e E</a:t>
            </a:r>
            <a:r>
              <a:rPr baseline="-25000" lang="pt-BR" sz="1800"/>
              <a:t>2</a:t>
            </a:r>
            <a:r>
              <a:rPr lang="pt-BR" sz="1800"/>
              <a:t>).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Variáveis: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Circunstâncias = 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e E</a:t>
            </a:r>
            <a:r>
              <a:rPr baseline="-25000" lang="pt-BR" sz="1800">
                <a:solidFill>
                  <a:schemeClr val="dk1"/>
                </a:solidFill>
              </a:rPr>
              <a:t>2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433" name="Google Shape;433;g366c426947b_0_453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66c426947b_0_485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9" name="Google Shape;439;g366c426947b_0_48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g366c426947b_0_4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366c426947b_0_4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66c426947b_0_4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366c426947b_0_485"/>
          <p:cNvSpPr txBox="1"/>
          <p:nvPr/>
        </p:nvSpPr>
        <p:spPr>
          <a:xfrm>
            <a:off x="287025" y="1496200"/>
            <a:ext cx="8856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inter-relação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 de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circunstâncias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que acompanham uma situação.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,E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Como podemos representar uma relação entre dois vetores?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Variáveis: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Circunstâncias = 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e E</a:t>
            </a:r>
            <a:r>
              <a:rPr baseline="-25000" lang="pt-BR" sz="1800">
                <a:solidFill>
                  <a:schemeClr val="dk1"/>
                </a:solidFill>
              </a:rPr>
              <a:t>2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444" name="Google Shape;444;g366c426947b_0_485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6c426947b_0_495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0" name="Google Shape;450;g366c426947b_0_49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g366c426947b_0_4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66c426947b_0_4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66c426947b_0_4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66c426947b_0_495"/>
          <p:cNvSpPr txBox="1"/>
          <p:nvPr/>
        </p:nvSpPr>
        <p:spPr>
          <a:xfrm>
            <a:off x="287025" y="1496200"/>
            <a:ext cx="88569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inter-relação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 de circunstâncias que acompanham uma situação.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,E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.E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endParaRPr b="1" baseline="-25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Como podemos representar uma relação entre dois vetores?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Operação: Soma,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produto escalar.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Produto escalar vai nos retornar um único número, muito conveniente para comparar a relação entre dois embeddings.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Variáveis: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Circunstâncias = 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e E</a:t>
            </a:r>
            <a:r>
              <a:rPr baseline="-25000" lang="pt-BR" sz="1800">
                <a:solidFill>
                  <a:schemeClr val="dk1"/>
                </a:solidFill>
              </a:rPr>
              <a:t>2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455" name="Google Shape;455;g366c426947b_0_495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66c426947b_0_505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1" name="Google Shape;461;g366c426947b_0_50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g366c426947b_0_5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g366c426947b_0_5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66c426947b_0_5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g366c426947b_0_505"/>
          <p:cNvSpPr txBox="1"/>
          <p:nvPr/>
        </p:nvSpPr>
        <p:spPr>
          <a:xfrm>
            <a:off x="287025" y="1496200"/>
            <a:ext cx="88569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inter-relação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 de circunstâncias que acompanham uma situação.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,E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.E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b="1" baseline="30000" lang="pt-BR" sz="24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endParaRPr b="1" baseline="30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Para o produto vetorial funcionar, o número de colunas do primeiro vetor tem que ser igual ao de colunas do segundo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Solução: transpor </a:t>
            </a:r>
            <a:r>
              <a:rPr lang="pt-BR" sz="1800">
                <a:solidFill>
                  <a:schemeClr val="dk1"/>
                </a:solidFill>
              </a:rPr>
              <a:t>E</a:t>
            </a:r>
            <a:r>
              <a:rPr baseline="-25000" lang="pt-BR" sz="1800">
                <a:solidFill>
                  <a:schemeClr val="dk1"/>
                </a:solidFill>
              </a:rPr>
              <a:t>2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Variáveis: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Circunstâncias = 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e E</a:t>
            </a:r>
            <a:r>
              <a:rPr baseline="-25000" lang="pt-BR" sz="1800">
                <a:solidFill>
                  <a:schemeClr val="dk1"/>
                </a:solidFill>
              </a:rPr>
              <a:t>2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466" name="Google Shape;466;g366c426947b_0_505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7" name="Google Shape;467;g366c426947b_0_5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2400" y="4153475"/>
            <a:ext cx="4892352" cy="1163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66c426947b_0_51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3" name="Google Shape;473;g366c426947b_0_51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g366c426947b_0_5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66c426947b_0_5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66c426947b_0_5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366c426947b_0_516"/>
          <p:cNvSpPr txBox="1"/>
          <p:nvPr/>
        </p:nvSpPr>
        <p:spPr>
          <a:xfrm>
            <a:off x="286900" y="1496200"/>
            <a:ext cx="78981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inter-relação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 de circunstâncias que acompanham uma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situação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,E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W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(E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.W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(E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r>
              <a:rPr b="1" baseline="30000" lang="pt-BR" sz="24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endParaRPr b="1" baseline="30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Estamos simplesmente comparando E2 e E1, sem saber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o que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estamos comparado. Ex: Uma relação entre roupa e rei é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pertencimento.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Podemos construir uma situação (W) como uma pergunta e resposta.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Q)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Existe algum token que pertence (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) a mim, rei (E2)?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R - Sim, eu, roupa (E1) , pertenço (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) ao rei.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e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são ajustados durante treinamento (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camadas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478" name="Google Shape;478;g366c426947b_0_516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6c426947b_0_53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4" name="Google Shape;484;g366c426947b_0_53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66c426947b_0_5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66c426947b_0_5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66c426947b_0_5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66c426947b_0_538"/>
          <p:cNvSpPr txBox="1"/>
          <p:nvPr/>
        </p:nvSpPr>
        <p:spPr>
          <a:xfrm>
            <a:off x="286900" y="1496200"/>
            <a:ext cx="88569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inter-relação de circunstâncias que acompanham uma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situação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Atenção(Q,K)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Q.K</a:t>
            </a:r>
            <a:r>
              <a:rPr b="1" baseline="30000" lang="pt-BR" sz="24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endParaRPr b="1" baseline="30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Em uma Transformer, a pergunta e a resposta são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construídas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pelo produto duas matrizes (W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e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) que são parte da ANN, portanto ajustadas no treinamento.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*E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K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 dimensão de W é (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embedding x d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GPT-1 usa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=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128.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489" name="Google Shape;489;g366c426947b_0_538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66c426947b_0_55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5" name="Google Shape;495;g366c426947b_0_55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g366c426947b_0_5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g366c426947b_0_5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66c426947b_0_5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66c426947b_0_558"/>
          <p:cNvSpPr txBox="1"/>
          <p:nvPr/>
        </p:nvSpPr>
        <p:spPr>
          <a:xfrm>
            <a:off x="286900" y="1496200"/>
            <a:ext cx="8856900" cy="47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inter-relação de circunstâncias que acompanham uma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situação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Atenção(Q,K)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r>
              <a:rPr b="1" lang="pt-BR" sz="2400" u="sng">
                <a:solidFill>
                  <a:schemeClr val="dk1"/>
                </a:solidFill>
                <a:highlight>
                  <a:schemeClr val="lt1"/>
                </a:highlight>
              </a:rPr>
              <a:t>Q.K</a:t>
            </a:r>
            <a:r>
              <a:rPr b="1" baseline="30000" lang="pt-BR" sz="24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endParaRPr b="1" baseline="30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											  √d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b="1" baseline="-25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Normalizamos a soma dividindo por d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baseline="-25000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Variáveis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*E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K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w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Situação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e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=128.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00" name="Google Shape;500;g366c426947b_0_558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6c426947b_0_57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6" name="Google Shape;506;g366c426947b_0_57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g366c426947b_0_5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366c426947b_0_5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366c426947b_0_5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66c426947b_0_578"/>
          <p:cNvSpPr txBox="1"/>
          <p:nvPr/>
        </p:nvSpPr>
        <p:spPr>
          <a:xfrm>
            <a:off x="286900" y="1496200"/>
            <a:ext cx="8856900" cy="52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inter-relação de circunstâncias que acompanham uma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situação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Atenção(Q,K,V)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r>
              <a:rPr b="1" lang="pt-BR" sz="2400" u="sng">
                <a:solidFill>
                  <a:schemeClr val="dk1"/>
                </a:solidFill>
                <a:highlight>
                  <a:schemeClr val="lt1"/>
                </a:highlight>
              </a:rPr>
              <a:t>Q.K</a:t>
            </a:r>
            <a:r>
              <a:rPr b="1" baseline="30000" lang="pt-BR" sz="24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.V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											 √d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b="1" baseline="-25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Aplicamos um peso V ajustado durante o treinamento(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camadas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):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(Q)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Existe algum token que pertence(k) a mim, rei (E2)?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(K) Sim, eu, roupa (E1) , pertenço (k) ao rei.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(V) Então, ajustamos rei para uma região mais próxima de roupas.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Variáveis: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*E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K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w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Situação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e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=128.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11" name="Google Shape;511;g366c426947b_0_578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66c426947b_0_60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Softmax.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7" name="Google Shape;517;g366c426947b_0_60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g366c426947b_0_6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g366c426947b_0_6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66c426947b_0_6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66c426947b_0_608"/>
          <p:cNvSpPr txBox="1"/>
          <p:nvPr/>
        </p:nvSpPr>
        <p:spPr>
          <a:xfrm>
            <a:off x="286900" y="1496200"/>
            <a:ext cx="88569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Contexto: inter-relação de circunstâncias que acompanham uma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situação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Atenção(Q,K,V)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softmax (</a:t>
            </a:r>
            <a:r>
              <a:rPr b="1" lang="pt-BR" sz="2400" u="sng">
                <a:solidFill>
                  <a:schemeClr val="dk1"/>
                </a:solidFill>
                <a:highlight>
                  <a:schemeClr val="lt1"/>
                </a:highlight>
              </a:rPr>
              <a:t>Q.K</a:t>
            </a:r>
            <a:r>
              <a:rPr b="1" baseline="30000" lang="pt-BR" sz="24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).V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											         √d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b="1" baseline="-25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Aplicamos uma normalização por camada softmax.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Garante que a soma de todos os valores seja 1.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Usado na função de probabilidade.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Variáveis: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*E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K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w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Situação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e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=128.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 = Pesos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22" name="Google Shape;522;g366c426947b_0_608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g366c426947b_0_6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9970" y="2044133"/>
            <a:ext cx="1770150" cy="175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66c426947b_0_62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Transformers: Construindo.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9" name="Google Shape;529;g366c426947b_0_62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g366c426947b_0_6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g366c426947b_0_6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750" y="4866475"/>
            <a:ext cx="1056250" cy="19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g366c426947b_0_6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9753" y="5005600"/>
            <a:ext cx="1487998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66c426947b_0_628"/>
          <p:cNvSpPr txBox="1"/>
          <p:nvPr/>
        </p:nvSpPr>
        <p:spPr>
          <a:xfrm>
            <a:off x="286900" y="1496200"/>
            <a:ext cx="88569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Attention Head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hlink"/>
                </a:solidFill>
                <a:highlight>
                  <a:schemeClr val="lt1"/>
                </a:highlight>
                <a:hlinkClick r:id="rId6"/>
              </a:rPr>
              <a:t>Contexto é tudo que precisamos.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Atenção(Q,K,V) </a:t>
            </a:r>
            <a:r>
              <a:rPr lang="pt-BR" sz="2400">
                <a:solidFill>
                  <a:schemeClr val="dk1"/>
                </a:solidFill>
                <a:highlight>
                  <a:schemeClr val="lt1"/>
                </a:highlight>
              </a:rPr>
              <a:t>= 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softmax (</a:t>
            </a:r>
            <a:r>
              <a:rPr b="1" lang="pt-BR" sz="2400" u="sng">
                <a:solidFill>
                  <a:schemeClr val="dk1"/>
                </a:solidFill>
                <a:highlight>
                  <a:schemeClr val="lt1"/>
                </a:highlight>
              </a:rPr>
              <a:t>Q.K</a:t>
            </a:r>
            <a:r>
              <a:rPr b="1" baseline="30000" lang="pt-BR" sz="24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).V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											         √d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b="1" baseline="-25000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*E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q</a:t>
            </a:r>
            <a:r>
              <a:rPr lang="pt-BR">
                <a:solidFill>
                  <a:schemeClr val="dk1"/>
                </a:solidFill>
              </a:rPr>
              <a:t>  </a:t>
            </a:r>
            <a:r>
              <a:rPr lang="pt-BR" sz="1800">
                <a:solidFill>
                  <a:schemeClr val="dk1"/>
                </a:solidFill>
              </a:rPr>
              <a:t>e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K = W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.E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 baseline="-25000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</a:t>
            </a:r>
            <a:r>
              <a:rPr baseline="-25000" lang="pt-BR" sz="18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= constante ajustável, tamanho das funções de atenção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V = Pesos para ajustar os embeddings.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34" name="Google Shape;534;g366c426947b_0_628"/>
          <p:cNvSpPr/>
          <p:nvPr/>
        </p:nvSpPr>
        <p:spPr>
          <a:xfrm>
            <a:off x="8430425" y="6237925"/>
            <a:ext cx="629700" cy="2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g366c426947b_0_6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500" y="2073144"/>
            <a:ext cx="3000000" cy="4599957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66c426947b_0_63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Attention head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1" name="Google Shape;541;g366c426947b_0_63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" name="Google Shape;542;g366c426947b_0_6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g366c426947b_0_6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6225" y="1996325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g366c426947b_0_638"/>
          <p:cNvSpPr/>
          <p:nvPr/>
        </p:nvSpPr>
        <p:spPr>
          <a:xfrm>
            <a:off x="6896750" y="5179025"/>
            <a:ext cx="1291500" cy="58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66c426947b_0_638"/>
          <p:cNvSpPr txBox="1"/>
          <p:nvPr/>
        </p:nvSpPr>
        <p:spPr>
          <a:xfrm>
            <a:off x="3510275" y="1374050"/>
            <a:ext cx="248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Attention Head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46" name="Google Shape;546;g366c426947b_0_638"/>
          <p:cNvSpPr txBox="1"/>
          <p:nvPr/>
        </p:nvSpPr>
        <p:spPr>
          <a:xfrm>
            <a:off x="6191275" y="1099600"/>
            <a:ext cx="248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Transformer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Decoder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g366c426947b_0_6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325" y="2090394"/>
            <a:ext cx="3000000" cy="4599957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366c426947b_0_665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Matriz e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máscara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3" name="Google Shape;553;g366c426947b_0_66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g366c426947b_0_6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g366c426947b_0_6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6225" y="1996325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66c426947b_0_665"/>
          <p:cNvSpPr/>
          <p:nvPr/>
        </p:nvSpPr>
        <p:spPr>
          <a:xfrm>
            <a:off x="6896750" y="5179025"/>
            <a:ext cx="1291500" cy="58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66c426947b_0_665"/>
          <p:cNvSpPr txBox="1"/>
          <p:nvPr/>
        </p:nvSpPr>
        <p:spPr>
          <a:xfrm>
            <a:off x="3510275" y="1374050"/>
            <a:ext cx="248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Attention Head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58" name="Google Shape;558;g366c426947b_0_665"/>
          <p:cNvSpPr txBox="1"/>
          <p:nvPr/>
        </p:nvSpPr>
        <p:spPr>
          <a:xfrm>
            <a:off x="6191275" y="1099600"/>
            <a:ext cx="248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Transformer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Decoder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cxnSp>
        <p:nvCxnSpPr>
          <p:cNvPr id="559" name="Google Shape;559;g366c426947b_0_665"/>
          <p:cNvCxnSpPr>
            <a:endCxn id="560" idx="3"/>
          </p:cNvCxnSpPr>
          <p:nvPr/>
        </p:nvCxnSpPr>
        <p:spPr>
          <a:xfrm rot="10800000">
            <a:off x="2867375" y="4881412"/>
            <a:ext cx="988500" cy="78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g366c426947b_0_665"/>
          <p:cNvSpPr txBox="1"/>
          <p:nvPr/>
        </p:nvSpPr>
        <p:spPr>
          <a:xfrm>
            <a:off x="905975" y="3151950"/>
            <a:ext cx="196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QK</a:t>
            </a:r>
            <a:r>
              <a:rPr b="1" baseline="30000" lang="pt-BR" sz="24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endParaRPr b="1" baseline="30000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560" name="Google Shape;560;g366c426947b_0_665" title="multihead_attention-weigths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325" y="3574388"/>
            <a:ext cx="2614050" cy="26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g366c426947b_0_665"/>
          <p:cNvSpPr txBox="1"/>
          <p:nvPr/>
        </p:nvSpPr>
        <p:spPr>
          <a:xfrm>
            <a:off x="253325" y="1108138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Aplicamos a função de atenção para todos os pares do contexto.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Matriz de confusão.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g3670dd46536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500" y="2073144"/>
            <a:ext cx="3000000" cy="4599957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670dd46536_0_5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Matriz e máscara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9" name="Google Shape;569;g3670dd46536_0_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g3670dd46536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g3670dd46536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6225" y="1996325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g3670dd46536_0_5"/>
          <p:cNvSpPr/>
          <p:nvPr/>
        </p:nvSpPr>
        <p:spPr>
          <a:xfrm>
            <a:off x="6896750" y="5179025"/>
            <a:ext cx="1291500" cy="58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670dd46536_0_5"/>
          <p:cNvSpPr txBox="1"/>
          <p:nvPr/>
        </p:nvSpPr>
        <p:spPr>
          <a:xfrm>
            <a:off x="3510275" y="1374050"/>
            <a:ext cx="248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Attention Head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74" name="Google Shape;574;g3670dd46536_0_5"/>
          <p:cNvSpPr txBox="1"/>
          <p:nvPr/>
        </p:nvSpPr>
        <p:spPr>
          <a:xfrm>
            <a:off x="6191275" y="1099600"/>
            <a:ext cx="248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Transformer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Decoder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cxnSp>
        <p:nvCxnSpPr>
          <p:cNvPr id="575" name="Google Shape;575;g3670dd46536_0_5"/>
          <p:cNvCxnSpPr>
            <a:endCxn id="576" idx="3"/>
          </p:cNvCxnSpPr>
          <p:nvPr/>
        </p:nvCxnSpPr>
        <p:spPr>
          <a:xfrm flipH="1">
            <a:off x="2591650" y="4226725"/>
            <a:ext cx="1104300" cy="737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g3670dd46536_0_5"/>
          <p:cNvSpPr txBox="1"/>
          <p:nvPr/>
        </p:nvSpPr>
        <p:spPr>
          <a:xfrm>
            <a:off x="272525" y="1002775"/>
            <a:ext cx="3237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Não queremos que todos os tokens se atentem entre si, portanto aplicamos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máscaras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que que irrelevam os pesos.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 máscara mais usada é a casual mask, que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irreleva pesos de tokens futuros.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576" name="Google Shape;576;g3670dd46536_0_5" title="multihead_attention-casual_mask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900" y="3811750"/>
            <a:ext cx="2304750" cy="23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g3670dd46536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500" y="2073144"/>
            <a:ext cx="3000000" cy="4599957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g3670dd46536_0_29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Matriz e máscara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4" name="Google Shape;584;g3670dd46536_0_2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5" name="Google Shape;585;g3670dd46536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g3670dd46536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6225" y="1996325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g3670dd46536_0_29"/>
          <p:cNvSpPr/>
          <p:nvPr/>
        </p:nvSpPr>
        <p:spPr>
          <a:xfrm>
            <a:off x="6896750" y="5179025"/>
            <a:ext cx="1291500" cy="58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670dd46536_0_29"/>
          <p:cNvSpPr txBox="1"/>
          <p:nvPr/>
        </p:nvSpPr>
        <p:spPr>
          <a:xfrm>
            <a:off x="3510275" y="1374050"/>
            <a:ext cx="248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Attention Head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89" name="Google Shape;589;g3670dd46536_0_29"/>
          <p:cNvSpPr txBox="1"/>
          <p:nvPr/>
        </p:nvSpPr>
        <p:spPr>
          <a:xfrm>
            <a:off x="6191275" y="1099600"/>
            <a:ext cx="248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Transformer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Decoder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cxnSp>
        <p:nvCxnSpPr>
          <p:cNvPr id="590" name="Google Shape;590;g3670dd46536_0_29"/>
          <p:cNvCxnSpPr/>
          <p:nvPr/>
        </p:nvCxnSpPr>
        <p:spPr>
          <a:xfrm rot="10800000">
            <a:off x="2433000" y="3429000"/>
            <a:ext cx="1326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1" name="Google Shape;591;g3670dd46536_0_29"/>
          <p:cNvSpPr txBox="1"/>
          <p:nvPr/>
        </p:nvSpPr>
        <p:spPr>
          <a:xfrm>
            <a:off x="272525" y="1002775"/>
            <a:ext cx="2847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Normalização por softmax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592" name="Google Shape;592;g3670dd46536_0_29" title="multihead_attention-soft_max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150" y="1996325"/>
            <a:ext cx="2286850" cy="4119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670dd46536_0_29" title="multihead_attention-soft_max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7400" y="2186563"/>
            <a:ext cx="2286850" cy="4119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g3670dd46536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500" y="2073144"/>
            <a:ext cx="3000000" cy="4599957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g3670dd46536_0_44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Matriz e máscara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0" name="Google Shape;600;g3670dd46536_0_44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1" name="Google Shape;601;g3670dd46536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670dd46536_0_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6225" y="1996325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g3670dd46536_0_44"/>
          <p:cNvSpPr/>
          <p:nvPr/>
        </p:nvSpPr>
        <p:spPr>
          <a:xfrm>
            <a:off x="6896750" y="5179025"/>
            <a:ext cx="1291500" cy="58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670dd46536_0_44"/>
          <p:cNvSpPr txBox="1"/>
          <p:nvPr/>
        </p:nvSpPr>
        <p:spPr>
          <a:xfrm>
            <a:off x="3510275" y="1374050"/>
            <a:ext cx="248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Attention Head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605" name="Google Shape;605;g3670dd46536_0_44"/>
          <p:cNvSpPr txBox="1"/>
          <p:nvPr/>
        </p:nvSpPr>
        <p:spPr>
          <a:xfrm>
            <a:off x="6191275" y="1099600"/>
            <a:ext cx="248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Transformer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Decoder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606" name="Google Shape;606;g3670dd46536_0_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25" y="2133725"/>
            <a:ext cx="3853390" cy="1108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7" name="Google Shape;607;g3670dd46536_0_44"/>
          <p:cNvCxnSpPr>
            <a:endCxn id="606" idx="3"/>
          </p:cNvCxnSpPr>
          <p:nvPr/>
        </p:nvCxnSpPr>
        <p:spPr>
          <a:xfrm rot="10800000">
            <a:off x="3928815" y="2687825"/>
            <a:ext cx="406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8" name="Google Shape;608;g3670dd46536_0_44"/>
          <p:cNvSpPr txBox="1"/>
          <p:nvPr/>
        </p:nvSpPr>
        <p:spPr>
          <a:xfrm>
            <a:off x="393550" y="1189400"/>
            <a:ext cx="267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softmax (</a:t>
            </a:r>
            <a:r>
              <a:rPr b="1" lang="pt-BR" sz="2400" u="sng">
                <a:solidFill>
                  <a:schemeClr val="dk1"/>
                </a:solidFill>
                <a:highlight>
                  <a:schemeClr val="lt1"/>
                </a:highlight>
              </a:rPr>
              <a:t>Q.K</a:t>
            </a:r>
            <a:r>
              <a:rPr b="1" baseline="30000" lang="pt-BR" sz="24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).V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			√d</a:t>
            </a:r>
            <a:r>
              <a:rPr b="1" baseline="-25000" lang="pt-BR" sz="24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endParaRPr/>
          </a:p>
        </p:txBody>
      </p:sp>
      <p:sp>
        <p:nvSpPr>
          <p:cNvPr id="609" name="Google Shape;609;g3670dd46536_0_44"/>
          <p:cNvSpPr txBox="1"/>
          <p:nvPr/>
        </p:nvSpPr>
        <p:spPr>
          <a:xfrm>
            <a:off x="0" y="3600575"/>
            <a:ext cx="3615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4 operações de matriz: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kq.E = Q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kk.E = K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Q.K</a:t>
            </a:r>
            <a:r>
              <a:rPr baseline="30000" lang="pt-BR" sz="18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Q.K</a:t>
            </a:r>
            <a:r>
              <a:rPr baseline="30000" lang="pt-BR" sz="1800">
                <a:solidFill>
                  <a:schemeClr val="dk1"/>
                </a:solidFill>
                <a:highlight>
                  <a:schemeClr val="lt1"/>
                </a:highlight>
              </a:rPr>
              <a:t>T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.V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 paralelismo é essencial para permitir a eficiência da atenção.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66c426947b_0_682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Multi-head self-attention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15" name="Google Shape;615;g366c426947b_0_682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6" name="Google Shape;616;g366c426947b_0_6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g366c426947b_0_6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225" y="1996325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g366c426947b_0_682"/>
          <p:cNvSpPr/>
          <p:nvPr/>
        </p:nvSpPr>
        <p:spPr>
          <a:xfrm>
            <a:off x="6896750" y="5179025"/>
            <a:ext cx="1291500" cy="58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66c426947b_0_682"/>
          <p:cNvSpPr txBox="1"/>
          <p:nvPr/>
        </p:nvSpPr>
        <p:spPr>
          <a:xfrm>
            <a:off x="2453975" y="1099600"/>
            <a:ext cx="355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Multi-head self-attention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620" name="Google Shape;620;g366c426947b_0_682"/>
          <p:cNvSpPr txBox="1"/>
          <p:nvPr/>
        </p:nvSpPr>
        <p:spPr>
          <a:xfrm>
            <a:off x="6191275" y="1099600"/>
            <a:ext cx="248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Transformer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Decoder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621" name="Google Shape;621;g366c426947b_0_6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8225" y="2379644"/>
            <a:ext cx="3157900" cy="391013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66c426947b_0_682"/>
          <p:cNvSpPr txBox="1"/>
          <p:nvPr/>
        </p:nvSpPr>
        <p:spPr>
          <a:xfrm>
            <a:off x="287025" y="1099600"/>
            <a:ext cx="276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Na prática, temos múltiplas attentions-heads treinadas em paralelo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GPT-1: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12 heads por self-attention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12 blocos.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GPT3: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40 heads por self-attention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40 blocos.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6c426947b_0_650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Feed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Forward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Layers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8" name="Google Shape;628;g366c426947b_0_65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g366c426947b_0_6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g366c426947b_0_650"/>
          <p:cNvSpPr txBox="1"/>
          <p:nvPr/>
        </p:nvSpPr>
        <p:spPr>
          <a:xfrm>
            <a:off x="287025" y="1126750"/>
            <a:ext cx="5341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As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Feed Forward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 Layers (FFs)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são uma sequência profunda de camadas densas comuns, como se vem em qualquer modelo MLP.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Essas camadas enriquecem as informações os embeddings de contexto. 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 mecanismo pelo qual isso ocorre não é exatamente claro, mas se assume que essa parte atua como 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memória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da Transformer.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Parte mais custosa computacionalmente da Transformer.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Como resolver?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631" name="Google Shape;631;g366c426947b_0_6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225" y="1996325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g366c426947b_0_650"/>
          <p:cNvSpPr txBox="1"/>
          <p:nvPr/>
        </p:nvSpPr>
        <p:spPr>
          <a:xfrm>
            <a:off x="6191275" y="1099600"/>
            <a:ext cx="248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Transformer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Decoder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633" name="Google Shape;633;g366c426947b_0_650"/>
          <p:cNvSpPr/>
          <p:nvPr/>
        </p:nvSpPr>
        <p:spPr>
          <a:xfrm>
            <a:off x="6877175" y="3683175"/>
            <a:ext cx="1343100" cy="55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670dd46536_0_80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Mixture of Experts (MoE)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39" name="Google Shape;639;g3670dd46536_0_8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0" name="Google Shape;640;g3670dd46536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g3670dd46536_0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3438" y="2181225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g3670dd46536_0_80"/>
          <p:cNvSpPr txBox="1"/>
          <p:nvPr/>
        </p:nvSpPr>
        <p:spPr>
          <a:xfrm>
            <a:off x="5031175" y="1118925"/>
            <a:ext cx="194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Bloco Transformer Clássico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643" name="Google Shape;643;g3670dd46536_0_80"/>
          <p:cNvSpPr txBox="1"/>
          <p:nvPr/>
        </p:nvSpPr>
        <p:spPr>
          <a:xfrm>
            <a:off x="287025" y="1099600"/>
            <a:ext cx="38907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Dividimos o único bloco de FF em múltiplos </a:t>
            </a:r>
            <a:r>
              <a:rPr i="1" lang="pt-BR" sz="1800">
                <a:solidFill>
                  <a:schemeClr val="dk1"/>
                </a:solidFill>
                <a:highlight>
                  <a:schemeClr val="lt1"/>
                </a:highlight>
              </a:rPr>
              <a:t>experts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Criamos uma camada especializada em decidir quais experts serão utilizados (router).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Camada densa + softmax.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Função de probabilidade.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Definimos um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critério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para escolher os experts: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Mixtral: k-melhores.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Deepkseek-V3: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Parâmetro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confiança.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Na prática, o V3 utiliza ambos blocos clássicos quanto MoEs. 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644" name="Google Shape;644;g3670dd46536_0_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9463" y="2059000"/>
            <a:ext cx="1949837" cy="48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670dd46536_0_80"/>
          <p:cNvSpPr txBox="1"/>
          <p:nvPr/>
        </p:nvSpPr>
        <p:spPr>
          <a:xfrm>
            <a:off x="6989538" y="1011613"/>
            <a:ext cx="194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Bloco Transformer Com MoE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670c0819ab_0_5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Embeddings em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1" name="Google Shape;651;g3670c0819ab_0_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2" name="Google Shape;652;g3670c0819ab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g3670c0819ab_0_5"/>
          <p:cNvSpPr txBox="1"/>
          <p:nvPr/>
        </p:nvSpPr>
        <p:spPr>
          <a:xfrm>
            <a:off x="287025" y="1126750"/>
            <a:ext cx="5547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A saída do último decoder é um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vetor com embeddings para o contexto inteiro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Somente os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embeddings do último token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são utilizados para predizer o seguinte.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Camada Densa (tamanho=vocabulário) + Softmax.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Obtemos a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 função de probabilidade de densidade.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É comum as probabilidades para cada token serem chamadas de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logits.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Realizamos 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predição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 da palavra seguinte.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Fim do modelo.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654" name="Google Shape;654;g3670c0819ab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225" y="1996325"/>
            <a:ext cx="2486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g3670c0819ab_0_5"/>
          <p:cNvSpPr txBox="1"/>
          <p:nvPr/>
        </p:nvSpPr>
        <p:spPr>
          <a:xfrm>
            <a:off x="6191275" y="1099600"/>
            <a:ext cx="248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Transformer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highlight>
                  <a:schemeClr val="lt1"/>
                </a:highlight>
              </a:rPr>
              <a:t>Decoder</a:t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656" name="Google Shape;656;g3670c0819ab_0_5"/>
          <p:cNvSpPr/>
          <p:nvPr/>
        </p:nvSpPr>
        <p:spPr>
          <a:xfrm>
            <a:off x="6567705" y="1924700"/>
            <a:ext cx="1844100" cy="84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685e07e0e1_0_33"/>
          <p:cNvSpPr txBox="1"/>
          <p:nvPr/>
        </p:nvSpPr>
        <p:spPr>
          <a:xfrm>
            <a:off x="393550" y="333525"/>
            <a:ext cx="875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Playlist do 3Blue1Brown sobre ANNs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2" name="Google Shape;662;g3685e07e0e1_0_3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3" name="Google Shape;663;g3685e07e0e1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g3685e07e0e1_0_33"/>
          <p:cNvSpPr txBox="1"/>
          <p:nvPr/>
        </p:nvSpPr>
        <p:spPr>
          <a:xfrm>
            <a:off x="286900" y="1897150"/>
            <a:ext cx="4223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Dentre todos os conteúdos que observei sobre Transformers, nenhum é mais visualmente explicativo do que a playlist do 3Blue1Brown.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Os episódios 5, 6 e 7 são sobre Transformers.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Episódio 5: https://youtu.be/wjZofJX0v4M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665" name="Google Shape;665;g3685e07e0e1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7125" y="3014713"/>
            <a:ext cx="4328475" cy="2456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g3685e07e0e1_0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7125" y="1897157"/>
            <a:ext cx="4328475" cy="1117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6"/>
          <p:cNvSpPr txBox="1"/>
          <p:nvPr/>
        </p:nvSpPr>
        <p:spPr>
          <a:xfrm>
            <a:off x="482400" y="1067825"/>
            <a:ext cx="7105200" cy="4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•"/>
            </a:pP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RASCHKA, Sebastian.</a:t>
            </a:r>
            <a:r>
              <a:rPr b="1"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Build a Large Language Model (From Scratch).</a:t>
            </a: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Simon and Schuster, 2024.</a:t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•"/>
            </a:pP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LUDWIG, R. et al. </a:t>
            </a:r>
            <a:r>
              <a:rPr b="1"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Unveiling Latent Space Structure with Sparse Concept Vectors in Diffusion Models.</a:t>
            </a: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2023. Disponível em: http</a:t>
            </a: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://arxiv.org/abs/2303.11073. Acesso em: 11 jun. 2025.</a:t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•"/>
            </a:pP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HUGGING FACE. </a:t>
            </a:r>
            <a:r>
              <a:rPr b="1"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Designing Positional Encoding</a:t>
            </a: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2021. Disponível em: https://huggingface.co/blog/designing-positional-encoding. Acesso em: 11 jun. 2025.</a:t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•"/>
            </a:pP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BROWNLEE, J. </a:t>
            </a:r>
            <a:r>
              <a:rPr b="1"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Gentle Introduction to Positional Encoding in Transformer Models (Part 1)</a:t>
            </a: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2022. Disponível em: https://machinelearningmastery.com/a-gentle-introduction-to-positional-encoding-in-transformer-models-part-1/. Acesso em: 11 jun. 2025.</a:t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•"/>
            </a:pP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VASWANI, A. et al. </a:t>
            </a:r>
            <a:r>
              <a:rPr b="1"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Attention is All You Need</a:t>
            </a: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2017. Disponível em: https://arxiv.org/abs/1706.03762. Acesso em: 11 jun. 2025.</a:t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•"/>
            </a:pP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RADFORD, A. et al. </a:t>
            </a:r>
            <a:r>
              <a:rPr b="1"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Improving Language Understanding by Generative Pre-Training</a:t>
            </a: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2018. Disponível em: https://cdn.openai.com/research-covers/language-unsupervised/language_understanding_paper.pdf. Acesso em: 11 jun. 2025.</a:t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•"/>
            </a:pP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3BLUE1BROWN.</a:t>
            </a:r>
            <a:r>
              <a:rPr b="1"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Playlist – Neural Networks</a:t>
            </a:r>
            <a:r>
              <a:rPr lang="pt-BR" sz="11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YouTube. Disponível em: https://youtube.com/playlist?list=PLZHQObOWTQDNU6R1_67000Dx_ZCJB-3pi. Acesso em: 11 jun. 2025.</a:t>
            </a:r>
            <a:endParaRPr sz="11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72" name="Google Shape;6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16"/>
          <p:cNvSpPr txBox="1"/>
          <p:nvPr/>
        </p:nvSpPr>
        <p:spPr>
          <a:xfrm>
            <a:off x="393549" y="333523"/>
            <a:ext cx="619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Referências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4" name="Google Shape;674;p16"/>
          <p:cNvSpPr/>
          <p:nvPr/>
        </p:nvSpPr>
        <p:spPr>
          <a:xfrm flipH="1" rot="10800000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17"/>
          <p:cNvSpPr txBox="1"/>
          <p:nvPr/>
        </p:nvSpPr>
        <p:spPr>
          <a:xfrm>
            <a:off x="4644008" y="836712"/>
            <a:ext cx="619268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Obrigado</a:t>
            </a:r>
            <a:endParaRPr b="1" i="0" sz="4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1" name="Google Shape;681;p17"/>
          <p:cNvSpPr/>
          <p:nvPr/>
        </p:nvSpPr>
        <p:spPr>
          <a:xfrm>
            <a:off x="4751513" y="1986453"/>
            <a:ext cx="3780927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UDESC – Universidade do Estado de Santa Catarina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Thiago Brandenburg</a:t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thiago.brandenburg@edu.udesc.br</a:t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82" name="Google Shape;682;p17"/>
          <p:cNvPicPr preferRelativeResize="0"/>
          <p:nvPr/>
        </p:nvPicPr>
        <p:blipFill rotWithShape="1">
          <a:blip r:embed="rId4">
            <a:alphaModFix/>
          </a:blip>
          <a:srcRect b="0" l="0" r="0" t="23653"/>
          <a:stretch/>
        </p:blipFill>
        <p:spPr>
          <a:xfrm flipH="1" rot="10800000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2016-08-30T17:34:40Z</dcterms:created>
  <dc:creator>Gabriela Colebrusco Peres</dc:creator>
</cp:coreProperties>
</file>